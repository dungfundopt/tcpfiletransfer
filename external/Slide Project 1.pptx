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8"/>
  </p:notesMasterIdLst>
  <p:handoutMasterIdLst>
    <p:handoutMasterId r:id="rId29"/>
  </p:handoutMasterIdLst>
  <p:sldIdLst>
    <p:sldId id="257" r:id="rId2"/>
    <p:sldId id="266" r:id="rId3"/>
    <p:sldId id="272" r:id="rId4"/>
    <p:sldId id="275" r:id="rId5"/>
    <p:sldId id="276" r:id="rId6"/>
    <p:sldId id="277" r:id="rId7"/>
    <p:sldId id="278" r:id="rId8"/>
    <p:sldId id="279" r:id="rId9"/>
    <p:sldId id="280" r:id="rId10"/>
    <p:sldId id="273" r:id="rId11"/>
    <p:sldId id="281" r:id="rId12"/>
    <p:sldId id="282"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69" r:id="rId26"/>
    <p:sldId id="267"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82" d="100"/>
          <a:sy n="82" d="100"/>
        </p:scale>
        <p:origin x="14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6/24/2025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15024"/>
            <a:ext cx="8674100" cy="488097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6/24/2025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683" r:id="rId4"/>
    <p:sldLayoutId id="2147483676" r:id="rId5"/>
    <p:sldLayoutId id="2147483679" r:id="rId6"/>
    <p:sldLayoutId id="2147483680" r:id="rId7"/>
    <p:sldLayoutId id="2147483681" r:id="rId8"/>
    <p:sldLayoutId id="2147483682" r:id="rId9"/>
    <p:sldLayoutId id="214748367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8401804"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600" dirty="0"/>
              <a:t>TCP FILE TRANSFERRING SYSTEM</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800" dirty="0"/>
              <a:t>Instructor</a:t>
            </a:r>
            <a:r>
              <a:rPr lang="en-US" sz="1800" b="0" dirty="0"/>
              <a:t>: Tong Van </a:t>
            </a:r>
            <a:r>
              <a:rPr lang="en-US" sz="1800" b="0" dirty="0" err="1"/>
              <a:t>Van</a:t>
            </a:r>
            <a:r>
              <a:rPr lang="en-US" sz="1800" b="0" dirty="0"/>
              <a:t> .PhD</a:t>
            </a:r>
          </a:p>
          <a:p>
            <a:endParaRPr lang="en-US" sz="2800" b="0" dirty="0"/>
          </a:p>
          <a:p>
            <a:endParaRPr lang="en-US" sz="2800" b="0" dirty="0"/>
          </a:p>
        </p:txBody>
      </p:sp>
      <p:sp>
        <p:nvSpPr>
          <p:cNvPr id="3" name="TextBox 2">
            <a:extLst>
              <a:ext uri="{FF2B5EF4-FFF2-40B4-BE49-F238E27FC236}">
                <a16:creationId xmlns:a16="http://schemas.microsoft.com/office/drawing/2014/main" id="{81D308E7-DACF-4717-310F-7A9C0AA2E408}"/>
              </a:ext>
            </a:extLst>
          </p:cNvPr>
          <p:cNvSpPr txBox="1"/>
          <p:nvPr/>
        </p:nvSpPr>
        <p:spPr>
          <a:xfrm>
            <a:off x="413012" y="1346492"/>
            <a:ext cx="5469494" cy="369332"/>
          </a:xfrm>
          <a:prstGeom prst="rect">
            <a:avLst/>
          </a:prstGeom>
          <a:noFill/>
        </p:spPr>
        <p:txBody>
          <a:bodyPr wrap="square">
            <a:spAutoFit/>
          </a:bodyPr>
          <a:lstStyle/>
          <a:p>
            <a:r>
              <a:rPr lang="en-US" b="1" dirty="0">
                <a:solidFill>
                  <a:srgbClr val="FF0000"/>
                </a:solidFill>
              </a:rPr>
              <a:t>School of Information and Communication Technology</a:t>
            </a:r>
            <a:endParaRPr lang="en-US" dirty="0">
              <a:solidFill>
                <a:srgbClr val="FF0000"/>
              </a:solidFill>
            </a:endParaRPr>
          </a:p>
        </p:txBody>
      </p:sp>
      <p:sp>
        <p:nvSpPr>
          <p:cNvPr id="5" name="TextBox 4">
            <a:extLst>
              <a:ext uri="{FF2B5EF4-FFF2-40B4-BE49-F238E27FC236}">
                <a16:creationId xmlns:a16="http://schemas.microsoft.com/office/drawing/2014/main" id="{373645CF-4CE5-740B-1280-1F033AE22C51}"/>
              </a:ext>
            </a:extLst>
          </p:cNvPr>
          <p:cNvSpPr txBox="1"/>
          <p:nvPr/>
        </p:nvSpPr>
        <p:spPr>
          <a:xfrm>
            <a:off x="413012" y="1939776"/>
            <a:ext cx="4572000" cy="369332"/>
          </a:xfrm>
          <a:prstGeom prst="rect">
            <a:avLst/>
          </a:prstGeom>
          <a:noFill/>
        </p:spPr>
        <p:txBody>
          <a:bodyPr wrap="square">
            <a:spAutoFit/>
          </a:bodyPr>
          <a:lstStyle/>
          <a:p>
            <a:r>
              <a:rPr lang="en-US" dirty="0"/>
              <a:t> </a:t>
            </a:r>
            <a:r>
              <a:rPr lang="en-US" b="1" dirty="0">
                <a:solidFill>
                  <a:srgbClr val="FF0000"/>
                </a:solidFill>
              </a:rPr>
              <a:t>Project I</a:t>
            </a:r>
          </a:p>
        </p:txBody>
      </p:sp>
      <p:sp>
        <p:nvSpPr>
          <p:cNvPr id="6" name="TextBox 9">
            <a:extLst>
              <a:ext uri="{FF2B5EF4-FFF2-40B4-BE49-F238E27FC236}">
                <a16:creationId xmlns:a16="http://schemas.microsoft.com/office/drawing/2014/main" id="{E2679522-CAE0-168D-25CA-23354302E2E6}"/>
              </a:ext>
            </a:extLst>
          </p:cNvPr>
          <p:cNvSpPr txBox="1"/>
          <p:nvPr/>
        </p:nvSpPr>
        <p:spPr>
          <a:xfrm>
            <a:off x="413012" y="4280402"/>
            <a:ext cx="4365087" cy="1231106"/>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US" sz="2000" b="1" dirty="0">
                <a:solidFill>
                  <a:srgbClr val="C00000"/>
                </a:solidFill>
              </a:rPr>
              <a:t>Authors:</a:t>
            </a:r>
          </a:p>
          <a:p>
            <a:r>
              <a:rPr lang="vi-VN" dirty="0">
                <a:solidFill>
                  <a:srgbClr val="C00000"/>
                </a:solidFill>
              </a:rPr>
              <a:t>Nguyễn Nghĩa Hà - 20225570</a:t>
            </a:r>
            <a:endParaRPr lang="en-US" dirty="0">
              <a:solidFill>
                <a:srgbClr val="C00000"/>
              </a:solidFill>
            </a:endParaRPr>
          </a:p>
          <a:p>
            <a:r>
              <a:rPr lang="vi-VN" dirty="0">
                <a:solidFill>
                  <a:srgbClr val="C00000"/>
                </a:solidFill>
              </a:rPr>
              <a:t>Phạm Đặng Tấn Dũng - 20225569</a:t>
            </a:r>
            <a:endParaRPr lang="en-US" sz="1800" b="0" dirty="0">
              <a:solidFill>
                <a:srgbClr val="C00000"/>
              </a:solidFill>
            </a:endParaRPr>
          </a:p>
          <a:p>
            <a:endParaRPr lang="en-US"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vi-VN" dirty="0"/>
              <a:t>Introduction</a:t>
            </a:r>
            <a:endParaRPr lang="en-US" dirty="0"/>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pPr fontAlgn="base"/>
            <a:r>
              <a:rPr lang="en-US" sz="2400" dirty="0"/>
              <a:t>The </a:t>
            </a:r>
            <a:r>
              <a:rPr lang="vi-VN" sz="2400" dirty="0"/>
              <a:t>TCP File Transferring </a:t>
            </a:r>
            <a:r>
              <a:rPr lang="en-US" sz="2400" dirty="0"/>
              <a:t>System is a Java-based web application designed to streamline the process of uploading and downloading digital files within a networked environment. It provides a dependable and user-friendly solution, serving both businesses and individual users.​</a:t>
            </a:r>
          </a:p>
          <a:p>
            <a:pPr fontAlgn="base"/>
            <a:endParaRPr lang="en-US" sz="2400" dirty="0"/>
          </a:p>
          <a:p>
            <a:pPr fontAlgn="base"/>
            <a:r>
              <a:rPr lang="en-US" sz="2400" dirty="0"/>
              <a:t>Users have the option to log in to their personal accounts for file management. If a user doesn’t have an account yet, they can sign up to create one. Once logged in, users can perform actions such as uploading, downloading, and deleting files. The files are organized in alphabetical order for easy management.</a:t>
            </a:r>
          </a:p>
          <a:p>
            <a:pPr marL="0" indent="0">
              <a:buNone/>
            </a:pPr>
            <a:endParaRPr lang="en-US" dirty="0"/>
          </a:p>
        </p:txBody>
      </p:sp>
    </p:spTree>
    <p:extLst>
      <p:ext uri="{BB962C8B-B14F-4D97-AF65-F5344CB8AC3E}">
        <p14:creationId xmlns:p14="http://schemas.microsoft.com/office/powerpoint/2010/main" val="2751358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dirty="0"/>
              <a:t>Use case Diagram</a:t>
            </a:r>
          </a:p>
        </p:txBody>
      </p:sp>
      <p:pic>
        <p:nvPicPr>
          <p:cNvPr id="5" name="Picture 4">
            <a:extLst>
              <a:ext uri="{FF2B5EF4-FFF2-40B4-BE49-F238E27FC236}">
                <a16:creationId xmlns:a16="http://schemas.microsoft.com/office/drawing/2014/main" id="{62E6E96E-FCA0-DE91-76F0-08AABBC0190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0307" y="1181417"/>
            <a:ext cx="5643386" cy="4495165"/>
          </a:xfrm>
          <a:prstGeom prst="rect">
            <a:avLst/>
          </a:prstGeom>
        </p:spPr>
      </p:pic>
    </p:spTree>
    <p:extLst>
      <p:ext uri="{BB962C8B-B14F-4D97-AF65-F5344CB8AC3E}">
        <p14:creationId xmlns:p14="http://schemas.microsoft.com/office/powerpoint/2010/main" val="644728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C5BA8-F63C-D2FD-666F-9BE5D6110E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4562E0-89AD-764F-4FF8-A0633806BD3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EC2593E9-7F55-0953-179A-E8D721EB4A78}"/>
              </a:ext>
            </a:extLst>
          </p:cNvPr>
          <p:cNvSpPr>
            <a:spLocks noGrp="1"/>
          </p:cNvSpPr>
          <p:nvPr>
            <p:ph type="title"/>
          </p:nvPr>
        </p:nvSpPr>
        <p:spPr/>
        <p:txBody>
          <a:bodyPr/>
          <a:lstStyle/>
          <a:p>
            <a:r>
              <a:rPr lang="vi-VN" dirty="0"/>
              <a:t>Class Diagram</a:t>
            </a:r>
            <a:endParaRPr lang="en-US" dirty="0"/>
          </a:p>
        </p:txBody>
      </p:sp>
      <p:sp>
        <p:nvSpPr>
          <p:cNvPr id="4" name="Content Placeholder 3">
            <a:extLst>
              <a:ext uri="{FF2B5EF4-FFF2-40B4-BE49-F238E27FC236}">
                <a16:creationId xmlns:a16="http://schemas.microsoft.com/office/drawing/2014/main" id="{E9CBA419-3470-E33E-39A6-6C30D36F6666}"/>
              </a:ext>
            </a:extLst>
          </p:cNvPr>
          <p:cNvSpPr>
            <a:spLocks noGrp="1"/>
          </p:cNvSpPr>
          <p:nvPr>
            <p:ph sz="quarter" idx="13"/>
          </p:nvPr>
        </p:nvSpPr>
        <p:spPr/>
        <p:txBody>
          <a:bodyPr/>
          <a:lstStyle/>
          <a:p>
            <a:pPr marL="0" indent="0">
              <a:buNone/>
            </a:pPr>
            <a:endParaRPr lang="vi-VN" sz="2000" dirty="0"/>
          </a:p>
          <a:p>
            <a:pPr marL="0" indent="0">
              <a:buNone/>
            </a:pPr>
            <a:endParaRPr lang="vi-VN" sz="2000" dirty="0"/>
          </a:p>
        </p:txBody>
      </p:sp>
      <p:pic>
        <p:nvPicPr>
          <p:cNvPr id="5" name="Picture 4">
            <a:extLst>
              <a:ext uri="{FF2B5EF4-FFF2-40B4-BE49-F238E27FC236}">
                <a16:creationId xmlns:a16="http://schemas.microsoft.com/office/drawing/2014/main" id="{567E679A-0441-4A41-B083-ABCAE5A09FB3}"/>
              </a:ext>
            </a:extLst>
          </p:cNvPr>
          <p:cNvPicPr>
            <a:picLocks noChangeAspect="1"/>
          </p:cNvPicPr>
          <p:nvPr/>
        </p:nvPicPr>
        <p:blipFill>
          <a:blip r:embed="rId2"/>
          <a:stretch>
            <a:fillRect/>
          </a:stretch>
        </p:blipFill>
        <p:spPr>
          <a:xfrm>
            <a:off x="1316736" y="1000268"/>
            <a:ext cx="6510528" cy="4857464"/>
          </a:xfrm>
          <a:prstGeom prst="rect">
            <a:avLst/>
          </a:prstGeom>
        </p:spPr>
      </p:pic>
    </p:spTree>
    <p:extLst>
      <p:ext uri="{BB962C8B-B14F-4D97-AF65-F5344CB8AC3E}">
        <p14:creationId xmlns:p14="http://schemas.microsoft.com/office/powerpoint/2010/main" val="1850483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600B-F5CB-8DCC-3105-E6032A1BA8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34FC48-6EB8-D91A-E12C-0A21CF5325DE}"/>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BC46DB1E-C846-C898-52B6-70A7B3F438D8}"/>
              </a:ext>
            </a:extLst>
          </p:cNvPr>
          <p:cNvSpPr>
            <a:spLocks noGrp="1"/>
          </p:cNvSpPr>
          <p:nvPr>
            <p:ph type="title"/>
          </p:nvPr>
        </p:nvSpPr>
        <p:spPr/>
        <p:txBody>
          <a:bodyPr/>
          <a:lstStyle/>
          <a:p>
            <a:r>
              <a:rPr lang="en-US" b="0" dirty="0"/>
              <a:t>Server</a:t>
            </a:r>
            <a:r>
              <a:rPr lang="vi-VN" b="0" dirty="0"/>
              <a:t> </a:t>
            </a:r>
            <a:r>
              <a:rPr lang="en-US" b="0" dirty="0"/>
              <a:t>(The Backend)</a:t>
            </a:r>
            <a:endParaRPr lang="en-US" dirty="0"/>
          </a:p>
        </p:txBody>
      </p:sp>
      <p:sp>
        <p:nvSpPr>
          <p:cNvPr id="4" name="Content Placeholder 3">
            <a:extLst>
              <a:ext uri="{FF2B5EF4-FFF2-40B4-BE49-F238E27FC236}">
                <a16:creationId xmlns:a16="http://schemas.microsoft.com/office/drawing/2014/main" id="{D7A3BFBD-572E-F03B-E6CB-CA4E5DA68EAF}"/>
              </a:ext>
            </a:extLst>
          </p:cNvPr>
          <p:cNvSpPr>
            <a:spLocks noGrp="1"/>
          </p:cNvSpPr>
          <p:nvPr>
            <p:ph sz="quarter" idx="13"/>
          </p:nvPr>
        </p:nvSpPr>
        <p:spPr/>
        <p:txBody>
          <a:bodyPr/>
          <a:lstStyle/>
          <a:p>
            <a:pPr marL="0" indent="0">
              <a:buNone/>
            </a:pPr>
            <a:endParaRPr lang="vi-VN" sz="2000" dirty="0"/>
          </a:p>
          <a:p>
            <a:pPr marL="0" indent="0">
              <a:buNone/>
            </a:pPr>
            <a:endParaRPr lang="en-US" sz="2000" dirty="0"/>
          </a:p>
          <a:p>
            <a:pPr marL="0" indent="0">
              <a:buNone/>
            </a:pPr>
            <a:endParaRPr lang="vi-VN" sz="2000" dirty="0"/>
          </a:p>
        </p:txBody>
      </p:sp>
      <p:pic>
        <p:nvPicPr>
          <p:cNvPr id="6" name="Picture 5">
            <a:extLst>
              <a:ext uri="{FF2B5EF4-FFF2-40B4-BE49-F238E27FC236}">
                <a16:creationId xmlns:a16="http://schemas.microsoft.com/office/drawing/2014/main" id="{18C02AD4-C2D6-F631-5526-B43AA79C7829}"/>
              </a:ext>
            </a:extLst>
          </p:cNvPr>
          <p:cNvPicPr>
            <a:picLocks noChangeAspect="1"/>
          </p:cNvPicPr>
          <p:nvPr/>
        </p:nvPicPr>
        <p:blipFill>
          <a:blip r:embed="rId2"/>
          <a:stretch>
            <a:fillRect/>
          </a:stretch>
        </p:blipFill>
        <p:spPr>
          <a:xfrm>
            <a:off x="0" y="1291276"/>
            <a:ext cx="5299301" cy="4648091"/>
          </a:xfrm>
          <a:prstGeom prst="rect">
            <a:avLst/>
          </a:prstGeom>
        </p:spPr>
      </p:pic>
      <p:sp>
        <p:nvSpPr>
          <p:cNvPr id="10" name="Rectangle 9">
            <a:extLst>
              <a:ext uri="{FF2B5EF4-FFF2-40B4-BE49-F238E27FC236}">
                <a16:creationId xmlns:a16="http://schemas.microsoft.com/office/drawing/2014/main" id="{9EA55A43-A74F-1003-5178-BA8650BD3797}"/>
              </a:ext>
            </a:extLst>
          </p:cNvPr>
          <p:cNvSpPr/>
          <p:nvPr/>
        </p:nvSpPr>
        <p:spPr>
          <a:xfrm>
            <a:off x="5299301" y="1291276"/>
            <a:ext cx="3609622" cy="6170920"/>
          </a:xfrm>
          <a:prstGeom prst="rect">
            <a:avLst/>
          </a:prstGeom>
          <a:noFill/>
        </p:spPr>
        <p:txBody>
          <a:bodyPr wrap="square" lIns="91440" tIns="45720" rIns="91440" bIns="45720">
            <a:spAutoFit/>
          </a:bodyPr>
          <a:lstStyle/>
          <a:p>
            <a:r>
              <a:rPr lang="en-US" sz="1500" b="1" dirty="0">
                <a:ln w="0"/>
                <a:effectLst>
                  <a:outerShdw blurRad="38100" dist="19050" dir="2700000" algn="tl" rotWithShape="0">
                    <a:schemeClr val="dk1">
                      <a:alpha val="40000"/>
                    </a:schemeClr>
                  </a:outerShdw>
                </a:effectLst>
              </a:rPr>
              <a:t>Server</a:t>
            </a:r>
            <a:r>
              <a:rPr lang="en-US" sz="1500" dirty="0">
                <a:ln w="0"/>
                <a:effectLst>
                  <a:outerShdw blurRad="38100" dist="19050" dir="2700000" algn="tl" rotWithShape="0">
                    <a:schemeClr val="dk1">
                      <a:alpha val="40000"/>
                    </a:schemeClr>
                  </a:outerShdw>
                </a:effectLst>
              </a:rPr>
              <a:t>: </a:t>
            </a:r>
            <a:r>
              <a:rPr lang="en-US" sz="1500" dirty="0"/>
              <a:t>Responsible for listening to connections, authenticating users, and storing encrypted files.</a:t>
            </a:r>
          </a:p>
          <a:p>
            <a:endParaRPr lang="en-US" sz="1500" dirty="0"/>
          </a:p>
          <a:p>
            <a:pPr marL="285750" indent="-285750">
              <a:buFont typeface="Arial" panose="020B0604020202020204" pitchFamily="34" charset="0"/>
              <a:buChar char="•"/>
            </a:pPr>
            <a:r>
              <a:rPr lang="en-US" sz="1500" dirty="0" err="1"/>
              <a:t>ServerApp</a:t>
            </a:r>
            <a:r>
              <a:rPr lang="en-US" sz="1500" dirty="0"/>
              <a:t>: Entry point that creates a </a:t>
            </a:r>
            <a:r>
              <a:rPr lang="en-US" sz="1500" dirty="0" err="1"/>
              <a:t>ServerSocket</a:t>
            </a:r>
            <a:r>
              <a:rPr lang="en-US" sz="1500" dirty="0"/>
              <a:t> to listen for connections and a </a:t>
            </a:r>
            <a:r>
              <a:rPr lang="en-US" sz="1500" dirty="0" err="1"/>
              <a:t>ThreadPool</a:t>
            </a:r>
            <a:r>
              <a:rPr lang="en-US" sz="1500" dirty="0"/>
              <a:t> to handle multiple clients concurrently. It also owns the </a:t>
            </a:r>
            <a:r>
              <a:rPr lang="en-US" sz="1500" dirty="0" err="1"/>
              <a:t>DatabaseHandler</a:t>
            </a:r>
            <a:r>
              <a:rPr lang="en-US" sz="1500" dirty="0"/>
              <a:t>.</a:t>
            </a:r>
            <a:br>
              <a:rPr lang="en-US" sz="1500" dirty="0"/>
            </a:br>
            <a:endParaRPr lang="en-US" sz="1500" dirty="0"/>
          </a:p>
          <a:p>
            <a:pPr marL="285750" indent="-285750">
              <a:buFont typeface="Arial" panose="020B0604020202020204" pitchFamily="34" charset="0"/>
              <a:buChar char="•"/>
            </a:pPr>
            <a:r>
              <a:rPr lang="en-US" sz="1500" dirty="0" err="1"/>
              <a:t>ClientHandler</a:t>
            </a:r>
            <a:r>
              <a:rPr lang="en-US" sz="1500" dirty="0"/>
              <a:t>: Created for each connected client in a separate thread. Responsible for reading requests, processing them, and sending responses.</a:t>
            </a:r>
            <a:br>
              <a:rPr lang="en-US" sz="1500" dirty="0"/>
            </a:br>
            <a:endParaRPr lang="en-US" sz="1500" dirty="0"/>
          </a:p>
          <a:p>
            <a:pPr marL="285750" indent="-285750">
              <a:buFont typeface="Arial" panose="020B0604020202020204" pitchFamily="34" charset="0"/>
              <a:buChar char="•"/>
            </a:pPr>
            <a:r>
              <a:rPr lang="en-US" sz="1500" dirty="0" err="1"/>
              <a:t>DatabaseHandler</a:t>
            </a:r>
            <a:r>
              <a:rPr lang="en-US" sz="1500" dirty="0"/>
              <a:t>: Handles all interactions with the SQLite database, including user info (username, password) and file metadata (name, size, uploader, etc.).</a:t>
            </a:r>
          </a:p>
          <a:p>
            <a:endParaRPr lang="en-US" sz="1500" b="0" cap="none" spc="0" dirty="0">
              <a:ln w="0"/>
              <a:solidFill>
                <a:schemeClr val="tx1"/>
              </a:solidFill>
              <a:effectLst>
                <a:outerShdw blurRad="38100" dist="19050" dir="2700000" algn="tl" rotWithShape="0">
                  <a:schemeClr val="dk1">
                    <a:alpha val="40000"/>
                  </a:schemeClr>
                </a:outerShdw>
              </a:effectLst>
            </a:endParaRPr>
          </a:p>
          <a:p>
            <a:endParaRPr lang="en-US" sz="1300" dirty="0">
              <a:ln w="0"/>
              <a:effectLst>
                <a:outerShdw blurRad="38100" dist="19050" dir="2700000" algn="tl" rotWithShape="0">
                  <a:schemeClr val="dk1">
                    <a:alpha val="40000"/>
                  </a:schemeClr>
                </a:outerShdw>
              </a:effectLst>
            </a:endParaRPr>
          </a:p>
          <a:p>
            <a:endParaRPr lang="en-US" sz="1300" b="0" cap="none" spc="0" dirty="0">
              <a:ln w="0"/>
              <a:solidFill>
                <a:schemeClr val="tx1"/>
              </a:solidFill>
              <a:effectLst>
                <a:outerShdw blurRad="38100" dist="19050" dir="2700000" algn="tl" rotWithShape="0">
                  <a:schemeClr val="dk1">
                    <a:alpha val="40000"/>
                  </a:schemeClr>
                </a:outerShdw>
              </a:effectLst>
            </a:endParaRPr>
          </a:p>
          <a:p>
            <a:endParaRPr lang="en-US" sz="1300" b="0" cap="none" spc="0" dirty="0">
              <a:ln w="0"/>
              <a:solidFill>
                <a:schemeClr val="tx1"/>
              </a:solidFill>
              <a:effectLst>
                <a:outerShdw blurRad="38100" dist="19050" dir="2700000" algn="tl" rotWithShape="0">
                  <a:schemeClr val="dk1">
                    <a:alpha val="40000"/>
                  </a:schemeClr>
                </a:outerShdw>
              </a:effectLst>
            </a:endParaRPr>
          </a:p>
          <a:p>
            <a:endParaRPr lang="en-US" sz="1300" dirty="0">
              <a:ln w="0"/>
              <a:effectLst>
                <a:outerShdw blurRad="38100" dist="19050" dir="2700000" algn="tl" rotWithShape="0">
                  <a:schemeClr val="dk1">
                    <a:alpha val="40000"/>
                  </a:schemeClr>
                </a:outerShdw>
              </a:effectLst>
            </a:endParaRPr>
          </a:p>
          <a:p>
            <a:endParaRPr lang="en-US" sz="13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69031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E3CC3-469B-FD13-5584-B3A91D1EF3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43EC54-46F3-95D6-5462-0B0EC06E6FB6}"/>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54A75C8F-677F-EBC0-2F7A-AFC9F54551BC}"/>
              </a:ext>
            </a:extLst>
          </p:cNvPr>
          <p:cNvSpPr>
            <a:spLocks noGrp="1"/>
          </p:cNvSpPr>
          <p:nvPr>
            <p:ph type="title"/>
          </p:nvPr>
        </p:nvSpPr>
        <p:spPr/>
        <p:txBody>
          <a:bodyPr/>
          <a:lstStyle/>
          <a:p>
            <a:r>
              <a:rPr lang="en-US" b="0" dirty="0"/>
              <a:t>Client (The Frontend)</a:t>
            </a:r>
            <a:endParaRPr lang="en-US" dirty="0"/>
          </a:p>
        </p:txBody>
      </p:sp>
      <p:pic>
        <p:nvPicPr>
          <p:cNvPr id="6" name="Picture 5">
            <a:extLst>
              <a:ext uri="{FF2B5EF4-FFF2-40B4-BE49-F238E27FC236}">
                <a16:creationId xmlns:a16="http://schemas.microsoft.com/office/drawing/2014/main" id="{C101F844-F6C0-F8CD-777B-5466E65C874D}"/>
              </a:ext>
            </a:extLst>
          </p:cNvPr>
          <p:cNvPicPr>
            <a:picLocks noChangeAspect="1"/>
          </p:cNvPicPr>
          <p:nvPr/>
        </p:nvPicPr>
        <p:blipFill>
          <a:blip r:embed="rId2"/>
          <a:stretch>
            <a:fillRect/>
          </a:stretch>
        </p:blipFill>
        <p:spPr>
          <a:xfrm>
            <a:off x="65314" y="859907"/>
            <a:ext cx="6445240" cy="3675879"/>
          </a:xfrm>
          <a:prstGeom prst="rect">
            <a:avLst/>
          </a:prstGeom>
        </p:spPr>
      </p:pic>
      <p:sp>
        <p:nvSpPr>
          <p:cNvPr id="10" name="Rectangle 9">
            <a:extLst>
              <a:ext uri="{FF2B5EF4-FFF2-40B4-BE49-F238E27FC236}">
                <a16:creationId xmlns:a16="http://schemas.microsoft.com/office/drawing/2014/main" id="{A2C8FF01-B7AA-0729-FBDC-84D703CB8F11}"/>
              </a:ext>
            </a:extLst>
          </p:cNvPr>
          <p:cNvSpPr/>
          <p:nvPr/>
        </p:nvSpPr>
        <p:spPr>
          <a:xfrm>
            <a:off x="65314" y="4705431"/>
            <a:ext cx="8843609" cy="1477328"/>
          </a:xfrm>
          <a:prstGeom prst="rect">
            <a:avLst/>
          </a:prstGeom>
          <a:noFill/>
        </p:spPr>
        <p:txBody>
          <a:bodyPr wrap="square" lIns="91440" tIns="45720" rIns="91440" bIns="45720">
            <a:spAutoFit/>
          </a:bodyPr>
          <a:lstStyle/>
          <a:p>
            <a:r>
              <a:rPr lang="en-US" sz="1500" dirty="0"/>
              <a:t>- </a:t>
            </a:r>
            <a:r>
              <a:rPr lang="en-US" sz="1500" b="1" dirty="0"/>
              <a:t>App</a:t>
            </a:r>
            <a:r>
              <a:rPr lang="en-US" sz="1500" dirty="0"/>
              <a:t>: Entry point of the client application, responsible for loading the initial UI (Login screen).</a:t>
            </a:r>
            <a:br>
              <a:rPr lang="en-US" sz="1500" dirty="0"/>
            </a:br>
            <a:r>
              <a:rPr lang="en-US" sz="1500" dirty="0"/>
              <a:t>- </a:t>
            </a:r>
            <a:r>
              <a:rPr lang="en-US" sz="1500" b="1" dirty="0" err="1"/>
              <a:t>LoginController</a:t>
            </a:r>
            <a:r>
              <a:rPr lang="en-US" sz="1500" b="1" dirty="0"/>
              <a:t> &amp; </a:t>
            </a:r>
            <a:r>
              <a:rPr lang="en-US" sz="1500" b="1" dirty="0" err="1"/>
              <a:t>RegisterController</a:t>
            </a:r>
            <a:r>
              <a:rPr lang="en-US" sz="1500" dirty="0"/>
              <a:t>: Handle logic for login and registration screens.</a:t>
            </a:r>
            <a:br>
              <a:rPr lang="en-US" sz="1500" dirty="0"/>
            </a:br>
            <a:r>
              <a:rPr lang="en-US" sz="1500" dirty="0"/>
              <a:t>- </a:t>
            </a:r>
            <a:r>
              <a:rPr lang="en-US" sz="1500" b="1" dirty="0" err="1"/>
              <a:t>ClientController</a:t>
            </a:r>
            <a:r>
              <a:rPr lang="en-US" sz="1500" dirty="0"/>
              <a:t>: Core controller for the main screen, managing all post-login actions like displaying files, searching, uploading, and downloading.</a:t>
            </a:r>
            <a:br>
              <a:rPr lang="en-US" sz="1500" dirty="0"/>
            </a:br>
            <a:r>
              <a:rPr lang="en-US" sz="1500" dirty="0"/>
              <a:t>- </a:t>
            </a:r>
            <a:r>
              <a:rPr lang="en-US" sz="1500" b="1" dirty="0" err="1"/>
              <a:t>ServerClient</a:t>
            </a:r>
            <a:r>
              <a:rPr lang="en-US" sz="1500" dirty="0"/>
              <a:t>: The client’s “ambassador,” encapsulating all networking logic. All requests to the server and response handling go through this class. It also handles file encryption and decryption.</a:t>
            </a:r>
            <a:endParaRPr lang="en-US" sz="1500" b="0" cap="none" spc="0"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359BA1CB-C78F-23AB-D36C-9AC8F92FDB2C}"/>
              </a:ext>
            </a:extLst>
          </p:cNvPr>
          <p:cNvSpPr/>
          <p:nvPr/>
        </p:nvSpPr>
        <p:spPr>
          <a:xfrm>
            <a:off x="6734663" y="2152569"/>
            <a:ext cx="2028337" cy="1015663"/>
          </a:xfrm>
          <a:prstGeom prst="rect">
            <a:avLst/>
          </a:prstGeom>
          <a:noFill/>
        </p:spPr>
        <p:txBody>
          <a:bodyPr wrap="square" lIns="91440" tIns="45720" rIns="91440" bIns="45720">
            <a:spAutoFit/>
          </a:bodyPr>
          <a:lstStyle/>
          <a:p>
            <a:r>
              <a:rPr lang="en-US" sz="1500" b="1" dirty="0"/>
              <a:t>Client</a:t>
            </a:r>
            <a:r>
              <a:rPr lang="en-US" sz="1500" dirty="0"/>
              <a:t>: The graphical user interface (JavaFX) that the user interacts with.</a:t>
            </a:r>
            <a:endParaRPr lang="en-US" sz="15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227312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E946-F2A3-5A93-E2BA-B22024D8A0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352CE5-5927-F68E-46DF-29AB950E6677}"/>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0535CD78-2722-D102-BDBD-715D9936854D}"/>
              </a:ext>
            </a:extLst>
          </p:cNvPr>
          <p:cNvSpPr>
            <a:spLocks noGrp="1"/>
          </p:cNvSpPr>
          <p:nvPr>
            <p:ph type="title"/>
          </p:nvPr>
        </p:nvSpPr>
        <p:spPr/>
        <p:txBody>
          <a:bodyPr/>
          <a:lstStyle/>
          <a:p>
            <a:r>
              <a:rPr lang="en-US" b="0" dirty="0"/>
              <a:t>shared (The Common Language)</a:t>
            </a:r>
            <a:endParaRPr lang="en-US" dirty="0"/>
          </a:p>
        </p:txBody>
      </p:sp>
      <p:sp>
        <p:nvSpPr>
          <p:cNvPr id="4" name="Content Placeholder 3">
            <a:extLst>
              <a:ext uri="{FF2B5EF4-FFF2-40B4-BE49-F238E27FC236}">
                <a16:creationId xmlns:a16="http://schemas.microsoft.com/office/drawing/2014/main" id="{27C05964-30DE-B262-50B8-B6754BE97D0A}"/>
              </a:ext>
            </a:extLst>
          </p:cNvPr>
          <p:cNvSpPr>
            <a:spLocks noGrp="1"/>
          </p:cNvSpPr>
          <p:nvPr>
            <p:ph sz="quarter" idx="13"/>
          </p:nvPr>
        </p:nvSpPr>
        <p:spPr/>
        <p:txBody>
          <a:bodyPr/>
          <a:lstStyle/>
          <a:p>
            <a:pPr marL="0" indent="0">
              <a:buNone/>
            </a:pPr>
            <a:endParaRPr lang="vi-VN" sz="2000" dirty="0"/>
          </a:p>
          <a:p>
            <a:pPr marL="0" indent="0">
              <a:buNone/>
            </a:pPr>
            <a:endParaRPr lang="vi-VN" sz="2000" dirty="0"/>
          </a:p>
        </p:txBody>
      </p:sp>
      <p:pic>
        <p:nvPicPr>
          <p:cNvPr id="6" name="Picture 5">
            <a:extLst>
              <a:ext uri="{FF2B5EF4-FFF2-40B4-BE49-F238E27FC236}">
                <a16:creationId xmlns:a16="http://schemas.microsoft.com/office/drawing/2014/main" id="{1AEB0D8A-140C-1448-B902-AC0246A42AC3}"/>
              </a:ext>
            </a:extLst>
          </p:cNvPr>
          <p:cNvPicPr>
            <a:picLocks noChangeAspect="1"/>
          </p:cNvPicPr>
          <p:nvPr/>
        </p:nvPicPr>
        <p:blipFill>
          <a:blip r:embed="rId2"/>
          <a:stretch>
            <a:fillRect/>
          </a:stretch>
        </p:blipFill>
        <p:spPr>
          <a:xfrm>
            <a:off x="0" y="713360"/>
            <a:ext cx="9095553" cy="2461790"/>
          </a:xfrm>
          <a:prstGeom prst="rect">
            <a:avLst/>
          </a:prstGeom>
        </p:spPr>
      </p:pic>
      <p:sp>
        <p:nvSpPr>
          <p:cNvPr id="7" name="Rectangle 6">
            <a:extLst>
              <a:ext uri="{FF2B5EF4-FFF2-40B4-BE49-F238E27FC236}">
                <a16:creationId xmlns:a16="http://schemas.microsoft.com/office/drawing/2014/main" id="{6739C562-EA1B-AD0B-4C81-87F19A9C26D5}"/>
              </a:ext>
            </a:extLst>
          </p:cNvPr>
          <p:cNvSpPr/>
          <p:nvPr/>
        </p:nvSpPr>
        <p:spPr>
          <a:xfrm>
            <a:off x="339135" y="3521268"/>
            <a:ext cx="8496955" cy="1800493"/>
          </a:xfrm>
          <a:prstGeom prst="rect">
            <a:avLst/>
          </a:prstGeom>
          <a:noFill/>
        </p:spPr>
        <p:txBody>
          <a:bodyPr wrap="square" lIns="91440" tIns="45720" rIns="91440" bIns="45720">
            <a:spAutoFit/>
          </a:bodyPr>
          <a:lstStyle/>
          <a:p>
            <a:r>
              <a:rPr lang="en-US" sz="1500" dirty="0">
                <a:ln w="0"/>
                <a:effectLst>
                  <a:outerShdw blurRad="38100" dist="19050" dir="2700000" algn="tl" rotWithShape="0">
                    <a:schemeClr val="dk1">
                      <a:alpha val="40000"/>
                    </a:schemeClr>
                  </a:outerShdw>
                </a:effectLst>
              </a:rPr>
              <a:t>Shared: </a:t>
            </a:r>
            <a:r>
              <a:rPr lang="en-US" sz="1600" dirty="0"/>
              <a:t>Contains object classes used by both the client and server for communication. This is the system’s “common language” or protocol.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err="1"/>
              <a:t>ServerRequest</a:t>
            </a:r>
            <a:r>
              <a:rPr lang="en-US" sz="1600" dirty="0"/>
              <a:t> &amp; </a:t>
            </a:r>
            <a:r>
              <a:rPr lang="en-US" sz="1600" dirty="0" err="1"/>
              <a:t>ServerResponse</a:t>
            </a:r>
            <a:r>
              <a:rPr lang="en-US" sz="1600" dirty="0"/>
              <a:t>: Encapsulate all requests and responses.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err="1"/>
              <a:t>FileMetadata</a:t>
            </a:r>
            <a:r>
              <a:rPr lang="en-US" sz="1600" dirty="0"/>
              <a:t>, </a:t>
            </a:r>
            <a:r>
              <a:rPr lang="en-US" sz="1600" dirty="0" err="1"/>
              <a:t>AuthRequest</a:t>
            </a:r>
            <a:r>
              <a:rPr lang="en-US" sz="1600" dirty="0"/>
              <a:t>, etc.: Data Transfer Objects (DTOs) for specific types of requests.</a:t>
            </a:r>
          </a:p>
          <a:p>
            <a:pPr algn="ctr"/>
            <a:endParaRPr lang="en-US" sz="15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73159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8D5D-7BFC-7D3C-5E71-1C8B285494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E14EDC-66D7-1BC1-8844-02FD2C2F7D1D}"/>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413F75E8-3AF2-3297-3354-FFC2774E3E35}"/>
              </a:ext>
            </a:extLst>
          </p:cNvPr>
          <p:cNvSpPr>
            <a:spLocks noGrp="1"/>
          </p:cNvSpPr>
          <p:nvPr>
            <p:ph type="title"/>
          </p:nvPr>
        </p:nvSpPr>
        <p:spPr/>
        <p:txBody>
          <a:bodyPr/>
          <a:lstStyle/>
          <a:p>
            <a:r>
              <a:rPr lang="en-US" dirty="0"/>
              <a:t>Explanation of the Demo</a:t>
            </a:r>
          </a:p>
        </p:txBody>
      </p:sp>
      <p:sp>
        <p:nvSpPr>
          <p:cNvPr id="5" name="Rectangle 4">
            <a:extLst>
              <a:ext uri="{FF2B5EF4-FFF2-40B4-BE49-F238E27FC236}">
                <a16:creationId xmlns:a16="http://schemas.microsoft.com/office/drawing/2014/main" id="{F6F36CAE-6327-7889-C0CB-D5CF5F53CEE8}"/>
              </a:ext>
            </a:extLst>
          </p:cNvPr>
          <p:cNvSpPr/>
          <p:nvPr/>
        </p:nvSpPr>
        <p:spPr>
          <a:xfrm>
            <a:off x="339561" y="938887"/>
            <a:ext cx="1833900" cy="553998"/>
          </a:xfrm>
          <a:prstGeom prst="rect">
            <a:avLst/>
          </a:prstGeom>
          <a:noFill/>
        </p:spPr>
        <p:txBody>
          <a:bodyPr wrap="none" lIns="91440" tIns="45720" rIns="91440" bIns="45720">
            <a:spAutoFit/>
          </a:bodyPr>
          <a:lstStyle/>
          <a:p>
            <a:pPr algn="ctr"/>
            <a:r>
              <a:rPr lang="en-US" sz="3000" b="0" cap="none" spc="0" dirty="0">
                <a:ln w="0"/>
                <a:solidFill>
                  <a:schemeClr val="tx1"/>
                </a:solidFill>
                <a:effectLst>
                  <a:outerShdw blurRad="38100" dist="19050" dir="2700000" algn="tl" rotWithShape="0">
                    <a:schemeClr val="dk1">
                      <a:alpha val="40000"/>
                    </a:schemeClr>
                  </a:outerShdw>
                </a:effectLst>
              </a:rPr>
              <a:t>Login view</a:t>
            </a:r>
          </a:p>
        </p:txBody>
      </p:sp>
      <p:pic>
        <p:nvPicPr>
          <p:cNvPr id="8" name="Picture 7">
            <a:extLst>
              <a:ext uri="{FF2B5EF4-FFF2-40B4-BE49-F238E27FC236}">
                <a16:creationId xmlns:a16="http://schemas.microsoft.com/office/drawing/2014/main" id="{94BB1813-5C0C-B533-2E5B-C03A8807DA80}"/>
              </a:ext>
            </a:extLst>
          </p:cNvPr>
          <p:cNvPicPr>
            <a:picLocks noChangeAspect="1"/>
          </p:cNvPicPr>
          <p:nvPr/>
        </p:nvPicPr>
        <p:blipFill>
          <a:blip r:embed="rId2"/>
          <a:stretch>
            <a:fillRect/>
          </a:stretch>
        </p:blipFill>
        <p:spPr>
          <a:xfrm>
            <a:off x="1256511" y="1728735"/>
            <a:ext cx="6849347" cy="3636380"/>
          </a:xfrm>
          <a:prstGeom prst="rect">
            <a:avLst/>
          </a:prstGeom>
        </p:spPr>
      </p:pic>
    </p:spTree>
    <p:extLst>
      <p:ext uri="{BB962C8B-B14F-4D97-AF65-F5344CB8AC3E}">
        <p14:creationId xmlns:p14="http://schemas.microsoft.com/office/powerpoint/2010/main" val="756559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F3F82-EB6A-C73A-04AF-45AD6C7BCC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0F9EC7-D44B-FF35-3182-83148DE916C6}"/>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862A7D1A-149C-78D6-46D5-A00AF4E338F5}"/>
              </a:ext>
            </a:extLst>
          </p:cNvPr>
          <p:cNvSpPr>
            <a:spLocks noGrp="1"/>
          </p:cNvSpPr>
          <p:nvPr>
            <p:ph type="title"/>
          </p:nvPr>
        </p:nvSpPr>
        <p:spPr/>
        <p:txBody>
          <a:bodyPr/>
          <a:lstStyle/>
          <a:p>
            <a:r>
              <a:rPr lang="vi-VN" dirty="0"/>
              <a:t>Login</a:t>
            </a:r>
            <a:endParaRPr lang="en-US" dirty="0"/>
          </a:p>
        </p:txBody>
      </p:sp>
      <p:sp>
        <p:nvSpPr>
          <p:cNvPr id="4" name="Content Placeholder 3">
            <a:extLst>
              <a:ext uri="{FF2B5EF4-FFF2-40B4-BE49-F238E27FC236}">
                <a16:creationId xmlns:a16="http://schemas.microsoft.com/office/drawing/2014/main" id="{31C16753-848A-9D5E-0155-93619DAD4AB9}"/>
              </a:ext>
            </a:extLst>
          </p:cNvPr>
          <p:cNvSpPr>
            <a:spLocks noGrp="1"/>
          </p:cNvSpPr>
          <p:nvPr>
            <p:ph sz="quarter" idx="13"/>
          </p:nvPr>
        </p:nvSpPr>
        <p:spPr/>
        <p:txBody>
          <a:bodyPr/>
          <a:lstStyle/>
          <a:p>
            <a:pPr marL="0" indent="0">
              <a:buNone/>
            </a:pPr>
            <a:endParaRPr lang="vi-VN" sz="2000" dirty="0"/>
          </a:p>
          <a:p>
            <a:pPr marL="0" indent="0">
              <a:buNone/>
            </a:pPr>
            <a:endParaRPr lang="vi-VN" sz="2000" dirty="0"/>
          </a:p>
        </p:txBody>
      </p:sp>
      <p:pic>
        <p:nvPicPr>
          <p:cNvPr id="6" name="Picture 5">
            <a:extLst>
              <a:ext uri="{FF2B5EF4-FFF2-40B4-BE49-F238E27FC236}">
                <a16:creationId xmlns:a16="http://schemas.microsoft.com/office/drawing/2014/main" id="{A38CCFF3-D2CF-8804-EE3B-1F84978EE6D2}"/>
              </a:ext>
            </a:extLst>
          </p:cNvPr>
          <p:cNvPicPr>
            <a:picLocks noChangeAspect="1"/>
          </p:cNvPicPr>
          <p:nvPr/>
        </p:nvPicPr>
        <p:blipFill>
          <a:blip r:embed="rId2"/>
          <a:stretch>
            <a:fillRect/>
          </a:stretch>
        </p:blipFill>
        <p:spPr>
          <a:xfrm>
            <a:off x="280426" y="1040946"/>
            <a:ext cx="4133078" cy="1533238"/>
          </a:xfrm>
          <a:prstGeom prst="rect">
            <a:avLst/>
          </a:prstGeom>
        </p:spPr>
      </p:pic>
      <p:sp>
        <p:nvSpPr>
          <p:cNvPr id="7" name="TextBox 6">
            <a:extLst>
              <a:ext uri="{FF2B5EF4-FFF2-40B4-BE49-F238E27FC236}">
                <a16:creationId xmlns:a16="http://schemas.microsoft.com/office/drawing/2014/main" id="{FAFF4E56-2260-ECC4-7C3E-5D923EB5DBB8}"/>
              </a:ext>
            </a:extLst>
          </p:cNvPr>
          <p:cNvSpPr txBox="1"/>
          <p:nvPr/>
        </p:nvSpPr>
        <p:spPr>
          <a:xfrm>
            <a:off x="525396" y="3759247"/>
            <a:ext cx="3643137" cy="1631216"/>
          </a:xfrm>
          <a:prstGeom prst="rect">
            <a:avLst/>
          </a:prstGeom>
          <a:noFill/>
        </p:spPr>
        <p:txBody>
          <a:bodyPr wrap="square" rtlCol="0">
            <a:spAutoFit/>
          </a:bodyPr>
          <a:lstStyle/>
          <a:p>
            <a:r>
              <a:rPr lang="en-US" sz="2000" dirty="0"/>
              <a:t>If your email and password are both correct, the server will return the message: “</a:t>
            </a:r>
            <a:r>
              <a:rPr lang="vi-VN" sz="2000" b="1" dirty="0"/>
              <a:t>Login successful</a:t>
            </a:r>
            <a:r>
              <a:rPr lang="vi-VN" sz="2000" dirty="0"/>
              <a:t>l</a:t>
            </a:r>
            <a:r>
              <a:rPr lang="en-US" sz="2000" dirty="0"/>
              <a:t>” and get you to the home screen.</a:t>
            </a:r>
          </a:p>
        </p:txBody>
      </p:sp>
      <p:sp>
        <p:nvSpPr>
          <p:cNvPr id="8" name="Rectangle 7">
            <a:extLst>
              <a:ext uri="{FF2B5EF4-FFF2-40B4-BE49-F238E27FC236}">
                <a16:creationId xmlns:a16="http://schemas.microsoft.com/office/drawing/2014/main" id="{E89581EF-1F2A-8AA3-6D77-F4ACEDDEE15D}"/>
              </a:ext>
            </a:extLst>
          </p:cNvPr>
          <p:cNvSpPr/>
          <p:nvPr/>
        </p:nvSpPr>
        <p:spPr>
          <a:xfrm>
            <a:off x="4666053" y="1394567"/>
            <a:ext cx="3990575" cy="1015663"/>
          </a:xfrm>
          <a:prstGeom prst="rect">
            <a:avLst/>
          </a:prstGeom>
          <a:noFill/>
        </p:spPr>
        <p:txBody>
          <a:bodyPr wrap="square" lIns="91440" tIns="45720" rIns="91440" bIns="45720">
            <a:spAutoFit/>
          </a:bodyPr>
          <a:lstStyle/>
          <a:p>
            <a:pPr algn="ctr"/>
            <a:r>
              <a:rPr lang="en-US" sz="2000" dirty="0"/>
              <a:t>If the username or password is incorrect, the system will display </a:t>
            </a:r>
            <a:r>
              <a:rPr lang="vi-VN" sz="2000" dirty="0"/>
              <a:t>“</a:t>
            </a:r>
            <a:r>
              <a:rPr lang="vi-VN" sz="2000" b="1" dirty="0"/>
              <a:t>Invalid usename or password</a:t>
            </a:r>
            <a:r>
              <a:rPr lang="vi-VN" sz="2000" dirty="0"/>
              <a:t>”.</a:t>
            </a:r>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12" name="Picture 11">
            <a:extLst>
              <a:ext uri="{FF2B5EF4-FFF2-40B4-BE49-F238E27FC236}">
                <a16:creationId xmlns:a16="http://schemas.microsoft.com/office/drawing/2014/main" id="{2E4ABC36-B538-D3D5-0342-228E15648747}"/>
              </a:ext>
            </a:extLst>
          </p:cNvPr>
          <p:cNvPicPr>
            <a:picLocks noChangeAspect="1"/>
          </p:cNvPicPr>
          <p:nvPr/>
        </p:nvPicPr>
        <p:blipFill>
          <a:blip r:embed="rId3"/>
          <a:stretch>
            <a:fillRect/>
          </a:stretch>
        </p:blipFill>
        <p:spPr>
          <a:xfrm>
            <a:off x="4485526" y="3553990"/>
            <a:ext cx="4133078" cy="1610841"/>
          </a:xfrm>
          <a:prstGeom prst="rect">
            <a:avLst/>
          </a:prstGeom>
        </p:spPr>
      </p:pic>
    </p:spTree>
    <p:extLst>
      <p:ext uri="{BB962C8B-B14F-4D97-AF65-F5344CB8AC3E}">
        <p14:creationId xmlns:p14="http://schemas.microsoft.com/office/powerpoint/2010/main" val="3909273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r>
              <a:rPr lang="vi-VN" dirty="0"/>
              <a:t>Register</a:t>
            </a:r>
            <a:endParaRPr lang="en-US" dirty="0"/>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6" name="Rectangle 5">
            <a:extLst>
              <a:ext uri="{FF2B5EF4-FFF2-40B4-BE49-F238E27FC236}">
                <a16:creationId xmlns:a16="http://schemas.microsoft.com/office/drawing/2014/main" id="{B236ADEB-102C-E48B-DFB2-8C016255F1BC}"/>
              </a:ext>
            </a:extLst>
          </p:cNvPr>
          <p:cNvSpPr/>
          <p:nvPr/>
        </p:nvSpPr>
        <p:spPr>
          <a:xfrm>
            <a:off x="2512788" y="4548040"/>
            <a:ext cx="4118423" cy="1015663"/>
          </a:xfrm>
          <a:prstGeom prst="rect">
            <a:avLst/>
          </a:prstGeom>
          <a:noFill/>
        </p:spPr>
        <p:txBody>
          <a:bodyPr wrap="square" lIns="91440" tIns="45720" rIns="91440" bIns="45720">
            <a:spAutoFit/>
          </a:bodyPr>
          <a:lstStyle/>
          <a:p>
            <a:pPr algn="ctr"/>
            <a:r>
              <a:rPr lang="en-US" sz="2000"/>
              <a:t>If you don't have an account, you can click the Register button and proceed with the registration.</a:t>
            </a:r>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10" name="Picture 9">
            <a:extLst>
              <a:ext uri="{FF2B5EF4-FFF2-40B4-BE49-F238E27FC236}">
                <a16:creationId xmlns:a16="http://schemas.microsoft.com/office/drawing/2014/main" id="{C4C89ACF-B934-89B0-A906-DF211EC44637}"/>
              </a:ext>
            </a:extLst>
          </p:cNvPr>
          <p:cNvPicPr>
            <a:picLocks noChangeAspect="1"/>
          </p:cNvPicPr>
          <p:nvPr/>
        </p:nvPicPr>
        <p:blipFill>
          <a:blip r:embed="rId2"/>
          <a:stretch>
            <a:fillRect/>
          </a:stretch>
        </p:blipFill>
        <p:spPr>
          <a:xfrm>
            <a:off x="836000" y="2503932"/>
            <a:ext cx="1695687" cy="590632"/>
          </a:xfrm>
          <a:prstGeom prst="rect">
            <a:avLst/>
          </a:prstGeom>
        </p:spPr>
      </p:pic>
      <p:pic>
        <p:nvPicPr>
          <p:cNvPr id="12" name="Picture 11">
            <a:extLst>
              <a:ext uri="{FF2B5EF4-FFF2-40B4-BE49-F238E27FC236}">
                <a16:creationId xmlns:a16="http://schemas.microsoft.com/office/drawing/2014/main" id="{4B3CBA89-4C2E-1E2A-5433-F597613252BB}"/>
              </a:ext>
            </a:extLst>
          </p:cNvPr>
          <p:cNvPicPr>
            <a:picLocks noChangeAspect="1"/>
          </p:cNvPicPr>
          <p:nvPr/>
        </p:nvPicPr>
        <p:blipFill>
          <a:blip r:embed="rId3"/>
          <a:stretch>
            <a:fillRect/>
          </a:stretch>
        </p:blipFill>
        <p:spPr>
          <a:xfrm>
            <a:off x="4867921" y="1293198"/>
            <a:ext cx="3998924" cy="2906100"/>
          </a:xfrm>
          <a:prstGeom prst="rect">
            <a:avLst/>
          </a:prstGeom>
        </p:spPr>
      </p:pic>
      <p:sp>
        <p:nvSpPr>
          <p:cNvPr id="14" name="Arrow: Right 13">
            <a:extLst>
              <a:ext uri="{FF2B5EF4-FFF2-40B4-BE49-F238E27FC236}">
                <a16:creationId xmlns:a16="http://schemas.microsoft.com/office/drawing/2014/main" id="{0B52A882-EDA6-691D-808E-AE40348F0396}"/>
              </a:ext>
            </a:extLst>
          </p:cNvPr>
          <p:cNvSpPr/>
          <p:nvPr/>
        </p:nvSpPr>
        <p:spPr>
          <a:xfrm>
            <a:off x="3297672" y="255693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069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54563-459E-BA40-C282-777F3A7B2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84B5B-E29C-5A36-D87B-E588105F2AB1}"/>
              </a:ext>
            </a:extLst>
          </p:cNvPr>
          <p:cNvSpPr>
            <a:spLocks noGrp="1"/>
          </p:cNvSpPr>
          <p:nvPr>
            <p:ph type="title"/>
          </p:nvPr>
        </p:nvSpPr>
        <p:spPr/>
        <p:txBody>
          <a:bodyPr/>
          <a:lstStyle/>
          <a:p>
            <a:r>
              <a:rPr lang="vi-VN" dirty="0"/>
              <a:t>Register</a:t>
            </a:r>
            <a:endParaRPr lang="en-US" dirty="0"/>
          </a:p>
        </p:txBody>
      </p:sp>
      <p:sp>
        <p:nvSpPr>
          <p:cNvPr id="5" name="Slide Number Placeholder 4">
            <a:extLst>
              <a:ext uri="{FF2B5EF4-FFF2-40B4-BE49-F238E27FC236}">
                <a16:creationId xmlns:a16="http://schemas.microsoft.com/office/drawing/2014/main" id="{23BF0854-AE99-4F3D-B147-58F1E3EEC138}"/>
              </a:ext>
            </a:extLst>
          </p:cNvPr>
          <p:cNvSpPr>
            <a:spLocks noGrp="1"/>
          </p:cNvSpPr>
          <p:nvPr>
            <p:ph type="sldNum" sz="quarter" idx="12"/>
          </p:nvPr>
        </p:nvSpPr>
        <p:spPr/>
        <p:txBody>
          <a:bodyPr/>
          <a:lstStyle/>
          <a:p>
            <a:fld id="{9EA0BE3B-158A-4EDF-80DC-E394A0D1600F}" type="slidenum">
              <a:rPr lang="en-US" smtClean="0"/>
              <a:pPr/>
              <a:t>11</a:t>
            </a:fld>
            <a:endParaRPr lang="en-US" dirty="0"/>
          </a:p>
        </p:txBody>
      </p:sp>
      <p:pic>
        <p:nvPicPr>
          <p:cNvPr id="4" name="Picture 3">
            <a:extLst>
              <a:ext uri="{FF2B5EF4-FFF2-40B4-BE49-F238E27FC236}">
                <a16:creationId xmlns:a16="http://schemas.microsoft.com/office/drawing/2014/main" id="{4E21AC94-E635-0432-D0C9-EA35C39C569E}"/>
              </a:ext>
            </a:extLst>
          </p:cNvPr>
          <p:cNvPicPr>
            <a:picLocks noChangeAspect="1"/>
          </p:cNvPicPr>
          <p:nvPr/>
        </p:nvPicPr>
        <p:blipFill>
          <a:blip r:embed="rId2"/>
          <a:stretch>
            <a:fillRect/>
          </a:stretch>
        </p:blipFill>
        <p:spPr>
          <a:xfrm>
            <a:off x="235077" y="908092"/>
            <a:ext cx="3166490" cy="2594945"/>
          </a:xfrm>
          <a:prstGeom prst="rect">
            <a:avLst/>
          </a:prstGeom>
        </p:spPr>
      </p:pic>
      <p:sp>
        <p:nvSpPr>
          <p:cNvPr id="6" name="Rectangle 5">
            <a:extLst>
              <a:ext uri="{FF2B5EF4-FFF2-40B4-BE49-F238E27FC236}">
                <a16:creationId xmlns:a16="http://schemas.microsoft.com/office/drawing/2014/main" id="{06B726AD-9BB1-CCA3-8492-01B28D259F1E}"/>
              </a:ext>
            </a:extLst>
          </p:cNvPr>
          <p:cNvSpPr/>
          <p:nvPr/>
        </p:nvSpPr>
        <p:spPr>
          <a:xfrm>
            <a:off x="4572000" y="1451272"/>
            <a:ext cx="4336923" cy="1015663"/>
          </a:xfrm>
          <a:prstGeom prst="rect">
            <a:avLst/>
          </a:prstGeom>
          <a:noFill/>
        </p:spPr>
        <p:txBody>
          <a:bodyPr wrap="square" lIns="91440" tIns="45720" rIns="91440" bIns="45720">
            <a:spAutoFit/>
          </a:bodyPr>
          <a:lstStyle/>
          <a:p>
            <a:pPr algn="ctr"/>
            <a:r>
              <a:rPr lang="en-US" sz="2000" dirty="0"/>
              <a:t>If you successfully </a:t>
            </a:r>
            <a:r>
              <a:rPr lang="vi-VN" sz="2000" dirty="0"/>
              <a:t>register</a:t>
            </a:r>
            <a:r>
              <a:rPr lang="en-US" sz="2000" dirty="0"/>
              <a:t>, the system will display a </a:t>
            </a:r>
            <a:r>
              <a:rPr lang="vi-VN" sz="2000" dirty="0"/>
              <a:t>massage” Registration successfully. You can now log in”</a:t>
            </a:r>
            <a:endParaRPr lang="en-US" sz="2000" b="0" cap="none" spc="0" dirty="0">
              <a:ln w="0"/>
              <a:solidFill>
                <a:schemeClr val="tx1"/>
              </a:solidFill>
              <a:effectLst>
                <a:outerShdw blurRad="38100" dist="19050" dir="2700000" algn="tl" rotWithShape="0">
                  <a:schemeClr val="dk1">
                    <a:alpha val="40000"/>
                  </a:schemeClr>
                </a:outerShdw>
              </a:effectLst>
            </a:endParaRPr>
          </a:p>
        </p:txBody>
      </p:sp>
      <p:pic>
        <p:nvPicPr>
          <p:cNvPr id="8" name="Picture 7">
            <a:extLst>
              <a:ext uri="{FF2B5EF4-FFF2-40B4-BE49-F238E27FC236}">
                <a16:creationId xmlns:a16="http://schemas.microsoft.com/office/drawing/2014/main" id="{66574EED-D021-3402-EFEB-C57B68C569A8}"/>
              </a:ext>
            </a:extLst>
          </p:cNvPr>
          <p:cNvPicPr>
            <a:picLocks noChangeAspect="1"/>
          </p:cNvPicPr>
          <p:nvPr/>
        </p:nvPicPr>
        <p:blipFill>
          <a:blip r:embed="rId3"/>
          <a:stretch>
            <a:fillRect/>
          </a:stretch>
        </p:blipFill>
        <p:spPr>
          <a:xfrm>
            <a:off x="5423516" y="3503037"/>
            <a:ext cx="3315685" cy="2710148"/>
          </a:xfrm>
          <a:prstGeom prst="rect">
            <a:avLst/>
          </a:prstGeom>
        </p:spPr>
      </p:pic>
      <p:sp>
        <p:nvSpPr>
          <p:cNvPr id="3" name="Rectangle 2">
            <a:extLst>
              <a:ext uri="{FF2B5EF4-FFF2-40B4-BE49-F238E27FC236}">
                <a16:creationId xmlns:a16="http://schemas.microsoft.com/office/drawing/2014/main" id="{3AA930D6-D8B2-996A-2589-F3FCC0FDDF8E}"/>
              </a:ext>
            </a:extLst>
          </p:cNvPr>
          <p:cNvSpPr/>
          <p:nvPr/>
        </p:nvSpPr>
        <p:spPr>
          <a:xfrm>
            <a:off x="404799" y="4161192"/>
            <a:ext cx="3415380" cy="1015663"/>
          </a:xfrm>
          <a:prstGeom prst="rect">
            <a:avLst/>
          </a:prstGeom>
          <a:noFill/>
        </p:spPr>
        <p:txBody>
          <a:bodyPr wrap="square" lIns="91440" tIns="45720" rIns="91440" bIns="45720">
            <a:spAutoFit/>
          </a:bodyPr>
          <a:lstStyle/>
          <a:p>
            <a:pPr algn="ctr"/>
            <a:r>
              <a:rPr lang="vi-VN" sz="2000" b="0" cap="none" spc="0" dirty="0">
                <a:ln w="0"/>
                <a:solidFill>
                  <a:schemeClr val="tx1"/>
                </a:solidFill>
                <a:effectLst>
                  <a:outerShdw blurRad="38100" dist="19050" dir="2700000" algn="tl" rotWithShape="0">
                    <a:schemeClr val="dk1">
                      <a:alpha val="40000"/>
                    </a:schemeClr>
                  </a:outerShdw>
                </a:effectLst>
              </a:rPr>
              <a:t> </a:t>
            </a:r>
            <a:r>
              <a:rPr lang="en-US" sz="2000" dirty="0"/>
              <a:t>If the passwords do not match, the system will display an error.</a:t>
            </a:r>
            <a:r>
              <a:rPr lang="en-US" sz="2000" b="0" cap="none" spc="0" dirty="0">
                <a:ln w="0"/>
                <a:solidFill>
                  <a:schemeClr val="tx1"/>
                </a:solidFill>
                <a:effectLst>
                  <a:outerShdw blurRad="38100" dist="19050" dir="2700000" algn="tl" rotWithShape="0">
                    <a:schemeClr val="dk1">
                      <a:alpha val="40000"/>
                    </a:schemeClr>
                  </a:outerShdw>
                </a:effectLst>
              </a:rPr>
              <a:t> </a:t>
            </a:r>
          </a:p>
        </p:txBody>
      </p:sp>
    </p:spTree>
    <p:extLst>
      <p:ext uri="{BB962C8B-B14F-4D97-AF65-F5344CB8AC3E}">
        <p14:creationId xmlns:p14="http://schemas.microsoft.com/office/powerpoint/2010/main" val="1374040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056E8-8F77-D820-D7EB-538917CA4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053CD-781C-5ED1-9753-280DA004A2DC}"/>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0E44223C-1C33-C986-F548-724942987966}"/>
              </a:ext>
            </a:extLst>
          </p:cNvPr>
          <p:cNvSpPr>
            <a:spLocks noGrp="1"/>
          </p:cNvSpPr>
          <p:nvPr>
            <p:ph type="sldNum" sz="quarter" idx="12"/>
          </p:nvPr>
        </p:nvSpPr>
        <p:spPr/>
        <p:txBody>
          <a:bodyPr/>
          <a:lstStyle/>
          <a:p>
            <a:fld id="{9EA0BE3B-158A-4EDF-80DC-E394A0D1600F}" type="slidenum">
              <a:rPr lang="en-US" smtClean="0"/>
              <a:pPr/>
              <a:t>12</a:t>
            </a:fld>
            <a:endParaRPr lang="en-US" dirty="0"/>
          </a:p>
        </p:txBody>
      </p:sp>
      <p:pic>
        <p:nvPicPr>
          <p:cNvPr id="7" name="Picture 6">
            <a:extLst>
              <a:ext uri="{FF2B5EF4-FFF2-40B4-BE49-F238E27FC236}">
                <a16:creationId xmlns:a16="http://schemas.microsoft.com/office/drawing/2014/main" id="{76C7BA53-9910-7313-9B58-0DD27F672F80}"/>
              </a:ext>
            </a:extLst>
          </p:cNvPr>
          <p:cNvPicPr>
            <a:picLocks noChangeAspect="1"/>
          </p:cNvPicPr>
          <p:nvPr/>
        </p:nvPicPr>
        <p:blipFill>
          <a:blip r:embed="rId2"/>
          <a:stretch>
            <a:fillRect/>
          </a:stretch>
        </p:blipFill>
        <p:spPr>
          <a:xfrm>
            <a:off x="1103376" y="1970768"/>
            <a:ext cx="6937248" cy="3716123"/>
          </a:xfrm>
          <a:prstGeom prst="rect">
            <a:avLst/>
          </a:prstGeom>
        </p:spPr>
      </p:pic>
      <p:sp>
        <p:nvSpPr>
          <p:cNvPr id="9" name="Text Placeholder 2">
            <a:extLst>
              <a:ext uri="{FF2B5EF4-FFF2-40B4-BE49-F238E27FC236}">
                <a16:creationId xmlns:a16="http://schemas.microsoft.com/office/drawing/2014/main" id="{7EE81BEF-E04E-456A-3E19-1C5EB74A4785}"/>
              </a:ext>
            </a:extLst>
          </p:cNvPr>
          <p:cNvSpPr txBox="1">
            <a:spLocks/>
          </p:cNvSpPr>
          <p:nvPr/>
        </p:nvSpPr>
        <p:spPr>
          <a:xfrm>
            <a:off x="337540" y="1032511"/>
            <a:ext cx="4548360" cy="4360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000" dirty="0"/>
              <a:t>Home</a:t>
            </a:r>
            <a:r>
              <a:rPr lang="vi-VN" sz="3000" dirty="0"/>
              <a:t> Screen</a:t>
            </a:r>
            <a:endParaRPr lang="en-US" sz="3000" dirty="0"/>
          </a:p>
        </p:txBody>
      </p:sp>
    </p:spTree>
    <p:extLst>
      <p:ext uri="{BB962C8B-B14F-4D97-AF65-F5344CB8AC3E}">
        <p14:creationId xmlns:p14="http://schemas.microsoft.com/office/powerpoint/2010/main" val="3347879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D4AF2-F4F2-91E1-14EA-FCB4F91C1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96C17-8518-F1CE-CBBA-67EB2F2702A0}"/>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D85FB09E-00C8-B463-FE70-B896F95544BC}"/>
              </a:ext>
            </a:extLst>
          </p:cNvPr>
          <p:cNvSpPr>
            <a:spLocks noGrp="1"/>
          </p:cNvSpPr>
          <p:nvPr>
            <p:ph type="sldNum" sz="quarter" idx="12"/>
          </p:nvPr>
        </p:nvSpPr>
        <p:spPr/>
        <p:txBody>
          <a:bodyPr/>
          <a:lstStyle/>
          <a:p>
            <a:fld id="{9EA0BE3B-158A-4EDF-80DC-E394A0D1600F}" type="slidenum">
              <a:rPr lang="en-US" smtClean="0"/>
              <a:pPr/>
              <a:t>13</a:t>
            </a:fld>
            <a:endParaRPr lang="en-US" dirty="0"/>
          </a:p>
        </p:txBody>
      </p:sp>
      <p:pic>
        <p:nvPicPr>
          <p:cNvPr id="4" name="Picture 3">
            <a:extLst>
              <a:ext uri="{FF2B5EF4-FFF2-40B4-BE49-F238E27FC236}">
                <a16:creationId xmlns:a16="http://schemas.microsoft.com/office/drawing/2014/main" id="{329A5EA7-F291-AFE3-44B1-A434A5054AE1}"/>
              </a:ext>
            </a:extLst>
          </p:cNvPr>
          <p:cNvPicPr>
            <a:picLocks noChangeAspect="1"/>
          </p:cNvPicPr>
          <p:nvPr/>
        </p:nvPicPr>
        <p:blipFill>
          <a:blip r:embed="rId2"/>
          <a:stretch>
            <a:fillRect/>
          </a:stretch>
        </p:blipFill>
        <p:spPr>
          <a:xfrm>
            <a:off x="1293126" y="1135495"/>
            <a:ext cx="6557747" cy="3497465"/>
          </a:xfrm>
          <a:prstGeom prst="rect">
            <a:avLst/>
          </a:prstGeom>
        </p:spPr>
      </p:pic>
      <p:sp>
        <p:nvSpPr>
          <p:cNvPr id="6" name="Rectangle 5">
            <a:extLst>
              <a:ext uri="{FF2B5EF4-FFF2-40B4-BE49-F238E27FC236}">
                <a16:creationId xmlns:a16="http://schemas.microsoft.com/office/drawing/2014/main" id="{EBFABD5C-365B-4F43-0BC2-B4F0F76F979E}"/>
              </a:ext>
            </a:extLst>
          </p:cNvPr>
          <p:cNvSpPr/>
          <p:nvPr/>
        </p:nvSpPr>
        <p:spPr>
          <a:xfrm>
            <a:off x="687332" y="4827200"/>
            <a:ext cx="7895835" cy="1015663"/>
          </a:xfrm>
          <a:prstGeom prst="rect">
            <a:avLst/>
          </a:prstGeom>
          <a:noFill/>
        </p:spPr>
        <p:txBody>
          <a:bodyPr wrap="square" lIns="91440" tIns="45720" rIns="91440" bIns="45720">
            <a:spAutoFit/>
          </a:bodyPr>
          <a:lstStyle/>
          <a:p>
            <a:pPr algn="ctr"/>
            <a:r>
              <a:rPr lang="vi-VN" sz="2000" b="0" cap="none" spc="0" dirty="0">
                <a:ln w="0"/>
                <a:solidFill>
                  <a:schemeClr val="tx1"/>
                </a:solidFill>
                <a:effectLst>
                  <a:outerShdw blurRad="38100" dist="19050" dir="2700000" algn="tl" rotWithShape="0">
                    <a:schemeClr val="dk1">
                      <a:alpha val="40000"/>
                    </a:schemeClr>
                  </a:outerShdw>
                </a:effectLst>
              </a:rPr>
              <a:t>       </a:t>
            </a:r>
            <a:r>
              <a:rPr lang="en-US" sz="2000" dirty="0"/>
              <a:t>When you click the ‘</a:t>
            </a:r>
            <a:r>
              <a:rPr lang="vi-VN" sz="2000" dirty="0"/>
              <a:t>Sellect Files</a:t>
            </a:r>
            <a:r>
              <a:rPr lang="en-US" sz="2000" dirty="0"/>
              <a:t>' button, the system will open the File Explorer on your local machine. It allows you to select a file and upload it to the system."</a:t>
            </a:r>
            <a:r>
              <a:rPr lang="vi-VN" sz="2000" b="0" cap="none" spc="0" dirty="0">
                <a:ln w="0"/>
                <a:solidFill>
                  <a:schemeClr val="tx1"/>
                </a:solidFill>
                <a:effectLst>
                  <a:outerShdw blurRad="38100" dist="19050" dir="2700000" algn="tl" rotWithShape="0">
                    <a:schemeClr val="dk1">
                      <a:alpha val="40000"/>
                    </a:schemeClr>
                  </a:outerShdw>
                </a:effectLst>
              </a:rPr>
              <a:t> </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5125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02729-7A88-3B72-6AB5-7282A1663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B8978-0731-891F-B664-334023D6DCAC}"/>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D01B58CF-1F93-28E5-F01B-3377C9A861AC}"/>
              </a:ext>
            </a:extLst>
          </p:cNvPr>
          <p:cNvSpPr>
            <a:spLocks noGrp="1"/>
          </p:cNvSpPr>
          <p:nvPr>
            <p:ph type="sldNum" sz="quarter" idx="12"/>
          </p:nvPr>
        </p:nvSpPr>
        <p:spPr/>
        <p:txBody>
          <a:bodyPr/>
          <a:lstStyle/>
          <a:p>
            <a:fld id="{9EA0BE3B-158A-4EDF-80DC-E394A0D1600F}" type="slidenum">
              <a:rPr lang="en-US" smtClean="0"/>
              <a:pPr/>
              <a:t>14</a:t>
            </a:fld>
            <a:endParaRPr lang="en-US" dirty="0"/>
          </a:p>
        </p:txBody>
      </p:sp>
      <p:pic>
        <p:nvPicPr>
          <p:cNvPr id="4" name="Picture 3">
            <a:extLst>
              <a:ext uri="{FF2B5EF4-FFF2-40B4-BE49-F238E27FC236}">
                <a16:creationId xmlns:a16="http://schemas.microsoft.com/office/drawing/2014/main" id="{156D1847-E558-235D-C9E4-E51613EDC3D1}"/>
              </a:ext>
            </a:extLst>
          </p:cNvPr>
          <p:cNvPicPr>
            <a:picLocks noChangeAspect="1"/>
          </p:cNvPicPr>
          <p:nvPr/>
        </p:nvPicPr>
        <p:blipFill>
          <a:blip r:embed="rId2"/>
          <a:stretch>
            <a:fillRect/>
          </a:stretch>
        </p:blipFill>
        <p:spPr>
          <a:xfrm>
            <a:off x="1408176" y="1094059"/>
            <a:ext cx="6327648" cy="3366548"/>
          </a:xfrm>
          <a:prstGeom prst="rect">
            <a:avLst/>
          </a:prstGeom>
        </p:spPr>
      </p:pic>
      <p:sp>
        <p:nvSpPr>
          <p:cNvPr id="6" name="Rectangle 5">
            <a:extLst>
              <a:ext uri="{FF2B5EF4-FFF2-40B4-BE49-F238E27FC236}">
                <a16:creationId xmlns:a16="http://schemas.microsoft.com/office/drawing/2014/main" id="{8D9F8DA5-9E4A-1BD0-35F7-F37618E60FCF}"/>
              </a:ext>
            </a:extLst>
          </p:cNvPr>
          <p:cNvSpPr/>
          <p:nvPr/>
        </p:nvSpPr>
        <p:spPr>
          <a:xfrm>
            <a:off x="1408176" y="4824258"/>
            <a:ext cx="6327648" cy="707886"/>
          </a:xfrm>
          <a:prstGeom prst="rect">
            <a:avLst/>
          </a:prstGeom>
          <a:noFill/>
        </p:spPr>
        <p:txBody>
          <a:bodyPr wrap="square" lIns="91440" tIns="45720" rIns="91440" bIns="45720">
            <a:spAutoFit/>
          </a:bodyPr>
          <a:lstStyle/>
          <a:p>
            <a:pPr algn="ctr"/>
            <a:r>
              <a:rPr lang="en-US" sz="2000" dirty="0"/>
              <a:t>The file has been uploaded and appears on the main screen of the system.</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56284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C2A40-DBA6-1088-9FA3-5385EAE4B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CD46B-CB55-BBA5-2E13-DE178939315D}"/>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69451175-DB1E-C3C2-D48E-374F9A6D1C25}"/>
              </a:ext>
            </a:extLst>
          </p:cNvPr>
          <p:cNvSpPr>
            <a:spLocks noGrp="1"/>
          </p:cNvSpPr>
          <p:nvPr>
            <p:ph type="sldNum" sz="quarter" idx="12"/>
          </p:nvPr>
        </p:nvSpPr>
        <p:spPr/>
        <p:txBody>
          <a:bodyPr/>
          <a:lstStyle/>
          <a:p>
            <a:fld id="{9EA0BE3B-158A-4EDF-80DC-E394A0D1600F}" type="slidenum">
              <a:rPr lang="en-US" smtClean="0"/>
              <a:pPr/>
              <a:t>15</a:t>
            </a:fld>
            <a:endParaRPr lang="en-US" dirty="0"/>
          </a:p>
        </p:txBody>
      </p:sp>
      <p:pic>
        <p:nvPicPr>
          <p:cNvPr id="4" name="Picture 3">
            <a:extLst>
              <a:ext uri="{FF2B5EF4-FFF2-40B4-BE49-F238E27FC236}">
                <a16:creationId xmlns:a16="http://schemas.microsoft.com/office/drawing/2014/main" id="{2E0FE08A-4B72-91CD-6291-30CF28B14BE3}"/>
              </a:ext>
            </a:extLst>
          </p:cNvPr>
          <p:cNvPicPr>
            <a:picLocks noChangeAspect="1"/>
          </p:cNvPicPr>
          <p:nvPr/>
        </p:nvPicPr>
        <p:blipFill>
          <a:blip r:embed="rId2"/>
          <a:stretch>
            <a:fillRect/>
          </a:stretch>
        </p:blipFill>
        <p:spPr>
          <a:xfrm>
            <a:off x="1359408" y="1010901"/>
            <a:ext cx="6425184" cy="3415369"/>
          </a:xfrm>
          <a:prstGeom prst="rect">
            <a:avLst/>
          </a:prstGeom>
        </p:spPr>
      </p:pic>
      <p:sp>
        <p:nvSpPr>
          <p:cNvPr id="7" name="TextBox 6">
            <a:extLst>
              <a:ext uri="{FF2B5EF4-FFF2-40B4-BE49-F238E27FC236}">
                <a16:creationId xmlns:a16="http://schemas.microsoft.com/office/drawing/2014/main" id="{44EACA3F-BB88-8AD3-78AD-E2B258EEC2E8}"/>
              </a:ext>
            </a:extLst>
          </p:cNvPr>
          <p:cNvSpPr txBox="1"/>
          <p:nvPr/>
        </p:nvSpPr>
        <p:spPr>
          <a:xfrm>
            <a:off x="1359408" y="4752124"/>
            <a:ext cx="6425184" cy="923330"/>
          </a:xfrm>
          <a:prstGeom prst="rect">
            <a:avLst/>
          </a:prstGeom>
          <a:noFill/>
        </p:spPr>
        <p:txBody>
          <a:bodyPr wrap="square">
            <a:spAutoFit/>
          </a:bodyPr>
          <a:lstStyle/>
          <a:p>
            <a:r>
              <a:rPr lang="en-US" dirty="0"/>
              <a:t>When we click on a file displayed on the system's main screen, the Delete and Download buttons will become active, allowing us to perform those actions on the file.</a:t>
            </a:r>
          </a:p>
        </p:txBody>
      </p:sp>
    </p:spTree>
    <p:extLst>
      <p:ext uri="{BB962C8B-B14F-4D97-AF65-F5344CB8AC3E}">
        <p14:creationId xmlns:p14="http://schemas.microsoft.com/office/powerpoint/2010/main" val="2262886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193C2-3524-B8EA-D223-EDA9B2644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5B28D-ECBE-F343-8B8D-0CA8792516B8}"/>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12860FC6-A4EE-A4C0-7053-55CBCA894390}"/>
              </a:ext>
            </a:extLst>
          </p:cNvPr>
          <p:cNvSpPr>
            <a:spLocks noGrp="1"/>
          </p:cNvSpPr>
          <p:nvPr>
            <p:ph type="sldNum" sz="quarter" idx="12"/>
          </p:nvPr>
        </p:nvSpPr>
        <p:spPr/>
        <p:txBody>
          <a:bodyPr/>
          <a:lstStyle/>
          <a:p>
            <a:fld id="{9EA0BE3B-158A-4EDF-80DC-E394A0D1600F}" type="slidenum">
              <a:rPr lang="en-US" smtClean="0"/>
              <a:pPr/>
              <a:t>16</a:t>
            </a:fld>
            <a:endParaRPr lang="en-US" dirty="0"/>
          </a:p>
        </p:txBody>
      </p:sp>
      <p:pic>
        <p:nvPicPr>
          <p:cNvPr id="4" name="Picture 3">
            <a:extLst>
              <a:ext uri="{FF2B5EF4-FFF2-40B4-BE49-F238E27FC236}">
                <a16:creationId xmlns:a16="http://schemas.microsoft.com/office/drawing/2014/main" id="{591CD751-0DBB-84E5-0113-49240B1980E8}"/>
              </a:ext>
            </a:extLst>
          </p:cNvPr>
          <p:cNvPicPr>
            <a:picLocks noChangeAspect="1"/>
          </p:cNvPicPr>
          <p:nvPr/>
        </p:nvPicPr>
        <p:blipFill>
          <a:blip r:embed="rId2"/>
          <a:stretch>
            <a:fillRect/>
          </a:stretch>
        </p:blipFill>
        <p:spPr>
          <a:xfrm>
            <a:off x="1126116" y="917768"/>
            <a:ext cx="6601091" cy="3520120"/>
          </a:xfrm>
          <a:prstGeom prst="rect">
            <a:avLst/>
          </a:prstGeom>
        </p:spPr>
      </p:pic>
      <p:sp>
        <p:nvSpPr>
          <p:cNvPr id="7" name="TextBox 6">
            <a:extLst>
              <a:ext uri="{FF2B5EF4-FFF2-40B4-BE49-F238E27FC236}">
                <a16:creationId xmlns:a16="http://schemas.microsoft.com/office/drawing/2014/main" id="{A97BB1C7-B986-B822-0E24-26C828C6E49A}"/>
              </a:ext>
            </a:extLst>
          </p:cNvPr>
          <p:cNvSpPr txBox="1"/>
          <p:nvPr/>
        </p:nvSpPr>
        <p:spPr>
          <a:xfrm>
            <a:off x="1126116" y="4825304"/>
            <a:ext cx="6601090" cy="646331"/>
          </a:xfrm>
          <a:prstGeom prst="rect">
            <a:avLst/>
          </a:prstGeom>
          <a:noFill/>
        </p:spPr>
        <p:txBody>
          <a:bodyPr wrap="square">
            <a:spAutoFit/>
          </a:bodyPr>
          <a:lstStyle/>
          <a:p>
            <a:r>
              <a:rPr lang="en-US" dirty="0"/>
              <a:t>When you select Download, the system will open your computer's File Explorer, allowing you to choose the destination folder.</a:t>
            </a:r>
          </a:p>
        </p:txBody>
      </p:sp>
    </p:spTree>
    <p:extLst>
      <p:ext uri="{BB962C8B-B14F-4D97-AF65-F5344CB8AC3E}">
        <p14:creationId xmlns:p14="http://schemas.microsoft.com/office/powerpoint/2010/main" val="1288004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40E2A-035B-AD26-4A8A-B7425703C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949C1-3C00-80CF-00C7-8D6B8A46E401}"/>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BFEA026F-406D-E97D-A9FE-B9CE22FF5AAA}"/>
              </a:ext>
            </a:extLst>
          </p:cNvPr>
          <p:cNvSpPr>
            <a:spLocks noGrp="1"/>
          </p:cNvSpPr>
          <p:nvPr>
            <p:ph type="sldNum" sz="quarter" idx="12"/>
          </p:nvPr>
        </p:nvSpPr>
        <p:spPr/>
        <p:txBody>
          <a:bodyPr/>
          <a:lstStyle/>
          <a:p>
            <a:fld id="{9EA0BE3B-158A-4EDF-80DC-E394A0D1600F}" type="slidenum">
              <a:rPr lang="en-US" smtClean="0"/>
              <a:pPr/>
              <a:t>17</a:t>
            </a:fld>
            <a:endParaRPr lang="en-US" dirty="0"/>
          </a:p>
        </p:txBody>
      </p:sp>
      <p:pic>
        <p:nvPicPr>
          <p:cNvPr id="4" name="Picture 3">
            <a:extLst>
              <a:ext uri="{FF2B5EF4-FFF2-40B4-BE49-F238E27FC236}">
                <a16:creationId xmlns:a16="http://schemas.microsoft.com/office/drawing/2014/main" id="{2FC99CFB-170C-9599-5CF9-114BFCD94A42}"/>
              </a:ext>
            </a:extLst>
          </p:cNvPr>
          <p:cNvPicPr>
            <a:picLocks noChangeAspect="1"/>
          </p:cNvPicPr>
          <p:nvPr/>
        </p:nvPicPr>
        <p:blipFill>
          <a:blip r:embed="rId2"/>
          <a:stretch>
            <a:fillRect/>
          </a:stretch>
        </p:blipFill>
        <p:spPr>
          <a:xfrm>
            <a:off x="1085088" y="1693742"/>
            <a:ext cx="6973824" cy="3714994"/>
          </a:xfrm>
          <a:prstGeom prst="rect">
            <a:avLst/>
          </a:prstGeom>
        </p:spPr>
      </p:pic>
    </p:spTree>
    <p:extLst>
      <p:ext uri="{BB962C8B-B14F-4D97-AF65-F5344CB8AC3E}">
        <p14:creationId xmlns:p14="http://schemas.microsoft.com/office/powerpoint/2010/main" val="4194069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3CCD7-805D-6435-A469-2DFF8EF47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C9037-4ACF-64FD-319A-F37E4F93A7D9}"/>
              </a:ext>
            </a:extLst>
          </p:cNvPr>
          <p:cNvSpPr>
            <a:spLocks noGrp="1"/>
          </p:cNvSpPr>
          <p:nvPr>
            <p:ph type="title"/>
          </p:nvPr>
        </p:nvSpPr>
        <p:spPr/>
        <p:txBody>
          <a:bodyPr/>
          <a:lstStyle/>
          <a:p>
            <a:r>
              <a:rPr lang="en-US" dirty="0"/>
              <a:t>Explanation of the Demo</a:t>
            </a:r>
          </a:p>
        </p:txBody>
      </p:sp>
      <p:sp>
        <p:nvSpPr>
          <p:cNvPr id="5" name="Slide Number Placeholder 4">
            <a:extLst>
              <a:ext uri="{FF2B5EF4-FFF2-40B4-BE49-F238E27FC236}">
                <a16:creationId xmlns:a16="http://schemas.microsoft.com/office/drawing/2014/main" id="{E1C132CC-84AF-5DF1-C8A1-CCEF8058461C}"/>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4" name="TextBox 3">
            <a:extLst>
              <a:ext uri="{FF2B5EF4-FFF2-40B4-BE49-F238E27FC236}">
                <a16:creationId xmlns:a16="http://schemas.microsoft.com/office/drawing/2014/main" id="{F08FC9BC-47CE-02B5-C668-95DDEB1ACACF}"/>
              </a:ext>
            </a:extLst>
          </p:cNvPr>
          <p:cNvSpPr txBox="1"/>
          <p:nvPr/>
        </p:nvSpPr>
        <p:spPr>
          <a:xfrm>
            <a:off x="0" y="3089574"/>
            <a:ext cx="9144000" cy="923330"/>
          </a:xfrm>
          <a:prstGeom prst="rect">
            <a:avLst/>
          </a:prstGeom>
          <a:noFill/>
        </p:spPr>
        <p:txBody>
          <a:bodyPr wrap="square">
            <a:spAutoFit/>
          </a:bodyPr>
          <a:lstStyle/>
          <a:p>
            <a:r>
              <a:rPr lang="en-US"/>
              <a:t>The file is encrypted before being uploaded to prevent anyone, including the admin, from viewing its contents. It will be decrypted after downloading, allowing you to view the file normally.</a:t>
            </a:r>
            <a:endParaRPr lang="en-US" dirty="0"/>
          </a:p>
        </p:txBody>
      </p:sp>
      <p:pic>
        <p:nvPicPr>
          <p:cNvPr id="7" name="Picture 6">
            <a:extLst>
              <a:ext uri="{FF2B5EF4-FFF2-40B4-BE49-F238E27FC236}">
                <a16:creationId xmlns:a16="http://schemas.microsoft.com/office/drawing/2014/main" id="{C910CDF0-A5D8-3D4E-9582-417BD4F9A335}"/>
              </a:ext>
            </a:extLst>
          </p:cNvPr>
          <p:cNvPicPr>
            <a:picLocks noChangeAspect="1"/>
          </p:cNvPicPr>
          <p:nvPr/>
        </p:nvPicPr>
        <p:blipFill>
          <a:blip r:embed="rId2"/>
          <a:stretch>
            <a:fillRect/>
          </a:stretch>
        </p:blipFill>
        <p:spPr>
          <a:xfrm>
            <a:off x="2095329" y="1006260"/>
            <a:ext cx="5172797" cy="1867161"/>
          </a:xfrm>
          <a:prstGeom prst="rect">
            <a:avLst/>
          </a:prstGeom>
        </p:spPr>
      </p:pic>
      <p:pic>
        <p:nvPicPr>
          <p:cNvPr id="9" name="Picture 8">
            <a:extLst>
              <a:ext uri="{FF2B5EF4-FFF2-40B4-BE49-F238E27FC236}">
                <a16:creationId xmlns:a16="http://schemas.microsoft.com/office/drawing/2014/main" id="{1B21FE5A-A419-8247-B607-96346F5A7C8F}"/>
              </a:ext>
            </a:extLst>
          </p:cNvPr>
          <p:cNvPicPr>
            <a:picLocks noChangeAspect="1"/>
          </p:cNvPicPr>
          <p:nvPr/>
        </p:nvPicPr>
        <p:blipFill>
          <a:blip r:embed="rId3"/>
          <a:stretch>
            <a:fillRect/>
          </a:stretch>
        </p:blipFill>
        <p:spPr>
          <a:xfrm>
            <a:off x="2699067" y="3805643"/>
            <a:ext cx="4018725" cy="2545923"/>
          </a:xfrm>
          <a:prstGeom prst="rect">
            <a:avLst/>
          </a:prstGeom>
        </p:spPr>
      </p:pic>
    </p:spTree>
    <p:extLst>
      <p:ext uri="{BB962C8B-B14F-4D97-AF65-F5344CB8AC3E}">
        <p14:creationId xmlns:p14="http://schemas.microsoft.com/office/powerpoint/2010/main" val="2439838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C6C24-6216-2C52-90AE-02636BDD4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529B6-A24F-5D69-8C7D-7B45C8333B0C}"/>
              </a:ext>
            </a:extLst>
          </p:cNvPr>
          <p:cNvSpPr>
            <a:spLocks noGrp="1"/>
          </p:cNvSpPr>
          <p:nvPr>
            <p:ph type="title"/>
          </p:nvPr>
        </p:nvSpPr>
        <p:spPr/>
        <p:txBody>
          <a:bodyPr/>
          <a:lstStyle/>
          <a:p>
            <a:r>
              <a:rPr lang="en-US"/>
              <a:t>Explanation of the Demo</a:t>
            </a:r>
            <a:endParaRPr lang="en-US" dirty="0"/>
          </a:p>
        </p:txBody>
      </p:sp>
      <p:sp>
        <p:nvSpPr>
          <p:cNvPr id="5" name="Slide Number Placeholder 4">
            <a:extLst>
              <a:ext uri="{FF2B5EF4-FFF2-40B4-BE49-F238E27FC236}">
                <a16:creationId xmlns:a16="http://schemas.microsoft.com/office/drawing/2014/main" id="{7BBCE9BA-B589-F0E5-11E2-373CEB232B5F}"/>
              </a:ext>
            </a:extLst>
          </p:cNvPr>
          <p:cNvSpPr>
            <a:spLocks noGrp="1"/>
          </p:cNvSpPr>
          <p:nvPr>
            <p:ph type="sldNum" sz="quarter" idx="12"/>
          </p:nvPr>
        </p:nvSpPr>
        <p:spPr/>
        <p:txBody>
          <a:bodyPr/>
          <a:lstStyle/>
          <a:p>
            <a:fld id="{9EA0BE3B-158A-4EDF-80DC-E394A0D1600F}" type="slidenum">
              <a:rPr lang="en-US" smtClean="0"/>
              <a:pPr/>
              <a:t>19</a:t>
            </a:fld>
            <a:endParaRPr lang="en-US" dirty="0"/>
          </a:p>
        </p:txBody>
      </p:sp>
      <p:pic>
        <p:nvPicPr>
          <p:cNvPr id="4" name="Picture 3">
            <a:extLst>
              <a:ext uri="{FF2B5EF4-FFF2-40B4-BE49-F238E27FC236}">
                <a16:creationId xmlns:a16="http://schemas.microsoft.com/office/drawing/2014/main" id="{1CEA6978-01C7-DA73-2F2D-AB8A1C9350D7}"/>
              </a:ext>
            </a:extLst>
          </p:cNvPr>
          <p:cNvPicPr>
            <a:picLocks noChangeAspect="1"/>
          </p:cNvPicPr>
          <p:nvPr/>
        </p:nvPicPr>
        <p:blipFill>
          <a:blip r:embed="rId2"/>
          <a:stretch>
            <a:fillRect/>
          </a:stretch>
        </p:blipFill>
        <p:spPr>
          <a:xfrm>
            <a:off x="4019473" y="973588"/>
            <a:ext cx="1105054" cy="619211"/>
          </a:xfrm>
          <a:prstGeom prst="rect">
            <a:avLst/>
          </a:prstGeom>
        </p:spPr>
      </p:pic>
      <p:pic>
        <p:nvPicPr>
          <p:cNvPr id="7" name="Picture 6">
            <a:extLst>
              <a:ext uri="{FF2B5EF4-FFF2-40B4-BE49-F238E27FC236}">
                <a16:creationId xmlns:a16="http://schemas.microsoft.com/office/drawing/2014/main" id="{4D37ED63-A8F0-2B5C-049B-B1F51353B842}"/>
              </a:ext>
            </a:extLst>
          </p:cNvPr>
          <p:cNvPicPr>
            <a:picLocks noChangeAspect="1"/>
          </p:cNvPicPr>
          <p:nvPr/>
        </p:nvPicPr>
        <p:blipFill>
          <a:blip r:embed="rId3"/>
          <a:stretch>
            <a:fillRect/>
          </a:stretch>
        </p:blipFill>
        <p:spPr>
          <a:xfrm>
            <a:off x="1347216" y="2655248"/>
            <a:ext cx="6449568" cy="3430549"/>
          </a:xfrm>
          <a:prstGeom prst="rect">
            <a:avLst/>
          </a:prstGeom>
        </p:spPr>
      </p:pic>
      <p:sp>
        <p:nvSpPr>
          <p:cNvPr id="8" name="Arrow: Down 7">
            <a:extLst>
              <a:ext uri="{FF2B5EF4-FFF2-40B4-BE49-F238E27FC236}">
                <a16:creationId xmlns:a16="http://schemas.microsoft.com/office/drawing/2014/main" id="{EF2DB69E-4E6E-B8A5-50BA-94B728F5BE1C}"/>
              </a:ext>
            </a:extLst>
          </p:cNvPr>
          <p:cNvSpPr/>
          <p:nvPr/>
        </p:nvSpPr>
        <p:spPr>
          <a:xfrm>
            <a:off x="4264089" y="1907661"/>
            <a:ext cx="615821" cy="5225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4895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C03BB-AC7F-5BFD-7DAC-D30C522F3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879673-50B1-3255-D361-37C91B9762B9}"/>
              </a:ext>
            </a:extLst>
          </p:cNvPr>
          <p:cNvSpPr>
            <a:spLocks noGrp="1"/>
          </p:cNvSpPr>
          <p:nvPr>
            <p:ph type="title"/>
          </p:nvPr>
        </p:nvSpPr>
        <p:spPr/>
        <p:txBody>
          <a:bodyPr/>
          <a:lstStyle/>
          <a:p>
            <a:r>
              <a:rPr lang="it-IT" dirty="0"/>
              <a:t>SonarQube </a:t>
            </a:r>
            <a:r>
              <a:rPr lang="vi-VN" dirty="0"/>
              <a:t>in</a:t>
            </a:r>
            <a:r>
              <a:rPr lang="it-IT" dirty="0"/>
              <a:t> Pipeline CI/CD</a:t>
            </a:r>
            <a:endParaRPr lang="en-US" dirty="0"/>
          </a:p>
        </p:txBody>
      </p:sp>
      <p:sp>
        <p:nvSpPr>
          <p:cNvPr id="5" name="Slide Number Placeholder 4">
            <a:extLst>
              <a:ext uri="{FF2B5EF4-FFF2-40B4-BE49-F238E27FC236}">
                <a16:creationId xmlns:a16="http://schemas.microsoft.com/office/drawing/2014/main" id="{90F40900-BEE4-90E4-EB59-B2DD4EDD6805}"/>
              </a:ext>
            </a:extLst>
          </p:cNvPr>
          <p:cNvSpPr>
            <a:spLocks noGrp="1"/>
          </p:cNvSpPr>
          <p:nvPr>
            <p:ph type="sldNum" sz="quarter" idx="12"/>
          </p:nvPr>
        </p:nvSpPr>
        <p:spPr/>
        <p:txBody>
          <a:bodyPr/>
          <a:lstStyle/>
          <a:p>
            <a:fld id="{9EA0BE3B-158A-4EDF-80DC-E394A0D1600F}" type="slidenum">
              <a:rPr lang="en-US" smtClean="0"/>
              <a:pPr/>
              <a:t>20</a:t>
            </a:fld>
            <a:endParaRPr lang="en-US" dirty="0"/>
          </a:p>
        </p:txBody>
      </p:sp>
      <p:pic>
        <p:nvPicPr>
          <p:cNvPr id="4" name="Picture 3">
            <a:extLst>
              <a:ext uri="{FF2B5EF4-FFF2-40B4-BE49-F238E27FC236}">
                <a16:creationId xmlns:a16="http://schemas.microsoft.com/office/drawing/2014/main" id="{D2DFD287-EB8C-E109-72E5-A5FDA1FC402F}"/>
              </a:ext>
            </a:extLst>
          </p:cNvPr>
          <p:cNvPicPr>
            <a:picLocks noChangeAspect="1"/>
          </p:cNvPicPr>
          <p:nvPr/>
        </p:nvPicPr>
        <p:blipFill>
          <a:blip r:embed="rId2"/>
          <a:stretch>
            <a:fillRect/>
          </a:stretch>
        </p:blipFill>
        <p:spPr>
          <a:xfrm>
            <a:off x="235077" y="1740272"/>
            <a:ext cx="5944115" cy="3133616"/>
          </a:xfrm>
          <a:prstGeom prst="rect">
            <a:avLst/>
          </a:prstGeom>
        </p:spPr>
      </p:pic>
      <p:sp>
        <p:nvSpPr>
          <p:cNvPr id="7" name="TextBox 6">
            <a:extLst>
              <a:ext uri="{FF2B5EF4-FFF2-40B4-BE49-F238E27FC236}">
                <a16:creationId xmlns:a16="http://schemas.microsoft.com/office/drawing/2014/main" id="{659B1940-01AC-0CA5-C526-9F235D2A0C4B}"/>
              </a:ext>
            </a:extLst>
          </p:cNvPr>
          <p:cNvSpPr txBox="1"/>
          <p:nvPr/>
        </p:nvSpPr>
        <p:spPr>
          <a:xfrm>
            <a:off x="5772912" y="1740272"/>
            <a:ext cx="2481072" cy="3416320"/>
          </a:xfrm>
          <a:prstGeom prst="rect">
            <a:avLst/>
          </a:prstGeom>
          <a:noFill/>
        </p:spPr>
        <p:txBody>
          <a:bodyPr wrap="square">
            <a:spAutoFit/>
          </a:bodyPr>
          <a:lstStyle/>
          <a:p>
            <a:pPr marL="285750" indent="-285750">
              <a:buFont typeface="Arial" panose="020B0604020202020204" pitchFamily="34" charset="0"/>
              <a:buChar char="•"/>
            </a:pPr>
            <a:r>
              <a:rPr lang="en-US" dirty="0"/>
              <a:t>Automated code quality check using SonarQube</a:t>
            </a:r>
            <a:endParaRPr lang="vi-VN" dirty="0"/>
          </a:p>
          <a:p>
            <a:pPr marL="285750" indent="-285750">
              <a:buFont typeface="Arial" panose="020B0604020202020204" pitchFamily="34" charset="0"/>
              <a:buChar char="•"/>
            </a:pPr>
            <a:r>
              <a:rPr lang="en-US" dirty="0"/>
              <a:t>Pipeline consists of two stages: SCM and SonarQube Analysis</a:t>
            </a:r>
            <a:endParaRPr lang="vi-VN" dirty="0"/>
          </a:p>
          <a:p>
            <a:pPr marL="285750" indent="-285750">
              <a:buFont typeface="Arial" panose="020B0604020202020204" pitchFamily="34" charset="0"/>
              <a:buChar char="•"/>
            </a:pPr>
            <a:r>
              <a:rPr lang="en-US" dirty="0"/>
              <a:t>Average runtime per execution: ~48 seconds</a:t>
            </a:r>
            <a:endParaRPr lang="vi-VN" dirty="0"/>
          </a:p>
          <a:p>
            <a:pPr marL="285750" indent="-285750">
              <a:buFont typeface="Arial" panose="020B0604020202020204" pitchFamily="34" charset="0"/>
              <a:buChar char="•"/>
            </a:pPr>
            <a:r>
              <a:rPr lang="en-US" dirty="0"/>
              <a:t>Stable build process with mostly successful runs</a:t>
            </a:r>
          </a:p>
        </p:txBody>
      </p:sp>
    </p:spTree>
    <p:extLst>
      <p:ext uri="{BB962C8B-B14F-4D97-AF65-F5344CB8AC3E}">
        <p14:creationId xmlns:p14="http://schemas.microsoft.com/office/powerpoint/2010/main" val="279192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E0846-91F0-62FE-A44A-7FC7EF12C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7DAB5-9D9F-10EA-B06B-8B0B31694052}"/>
              </a:ext>
            </a:extLst>
          </p:cNvPr>
          <p:cNvSpPr>
            <a:spLocks noGrp="1"/>
          </p:cNvSpPr>
          <p:nvPr>
            <p:ph type="title"/>
          </p:nvPr>
        </p:nvSpPr>
        <p:spPr/>
        <p:txBody>
          <a:bodyPr/>
          <a:lstStyle/>
          <a:p>
            <a:r>
              <a:rPr lang="en-US"/>
              <a:t>Source Code Quality Overview</a:t>
            </a:r>
            <a:endParaRPr lang="en-US" dirty="0"/>
          </a:p>
        </p:txBody>
      </p:sp>
      <p:sp>
        <p:nvSpPr>
          <p:cNvPr id="5" name="Slide Number Placeholder 4">
            <a:extLst>
              <a:ext uri="{FF2B5EF4-FFF2-40B4-BE49-F238E27FC236}">
                <a16:creationId xmlns:a16="http://schemas.microsoft.com/office/drawing/2014/main" id="{E0D4D385-756B-5C60-6613-4D096117828D}"/>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4" name="TextBox 3">
            <a:extLst>
              <a:ext uri="{FF2B5EF4-FFF2-40B4-BE49-F238E27FC236}">
                <a16:creationId xmlns:a16="http://schemas.microsoft.com/office/drawing/2014/main" id="{D4D5C154-5B94-4C94-825C-70CE46913DEC}"/>
              </a:ext>
            </a:extLst>
          </p:cNvPr>
          <p:cNvSpPr txBox="1"/>
          <p:nvPr/>
        </p:nvSpPr>
        <p:spPr>
          <a:xfrm>
            <a:off x="838200" y="4172712"/>
            <a:ext cx="7467600" cy="1477328"/>
          </a:xfrm>
          <a:prstGeom prst="rect">
            <a:avLst/>
          </a:prstGeom>
          <a:noFill/>
        </p:spPr>
        <p:txBody>
          <a:bodyPr wrap="square">
            <a:spAutoFit/>
          </a:bodyPr>
          <a:lstStyle/>
          <a:p>
            <a:pPr marL="285750" indent="-285750">
              <a:buFont typeface="Arial" panose="020B0604020202020204" pitchFamily="34" charset="0"/>
              <a:buChar char="•"/>
            </a:pPr>
            <a:r>
              <a:rPr lang="en-US" dirty="0"/>
              <a:t>0 Bugs, 0 Vulnerabilities, 0 Security Hotspots</a:t>
            </a: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r>
              <a:rPr lang="en-US" dirty="0"/>
              <a:t>36 Code Smells, estimated technical debt: 6 hours 10 minutes</a:t>
            </a:r>
            <a:endParaRPr lang="vi-VN" dirty="0"/>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r>
              <a:rPr lang="en-US" dirty="0"/>
              <a:t>All quality indicators are rated A (the highest grade)</a:t>
            </a:r>
          </a:p>
        </p:txBody>
      </p:sp>
      <p:pic>
        <p:nvPicPr>
          <p:cNvPr id="7" name="Picture 6">
            <a:extLst>
              <a:ext uri="{FF2B5EF4-FFF2-40B4-BE49-F238E27FC236}">
                <a16:creationId xmlns:a16="http://schemas.microsoft.com/office/drawing/2014/main" id="{ACF15D0F-AD3F-57FA-AB10-8776C51897B8}"/>
              </a:ext>
            </a:extLst>
          </p:cNvPr>
          <p:cNvPicPr>
            <a:picLocks noChangeAspect="1"/>
          </p:cNvPicPr>
          <p:nvPr/>
        </p:nvPicPr>
        <p:blipFill>
          <a:blip r:embed="rId2"/>
          <a:stretch>
            <a:fillRect/>
          </a:stretch>
        </p:blipFill>
        <p:spPr>
          <a:xfrm>
            <a:off x="2259970" y="998754"/>
            <a:ext cx="4624059" cy="2712915"/>
          </a:xfrm>
          <a:prstGeom prst="rect">
            <a:avLst/>
          </a:prstGeom>
        </p:spPr>
      </p:pic>
    </p:spTree>
    <p:extLst>
      <p:ext uri="{BB962C8B-B14F-4D97-AF65-F5344CB8AC3E}">
        <p14:creationId xmlns:p14="http://schemas.microsoft.com/office/powerpoint/2010/main" val="3508553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33B44-38AD-E514-8758-66AE1DBA9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E16C4-3A7F-DFCC-7971-8F1B97C6B555}"/>
              </a:ext>
            </a:extLst>
          </p:cNvPr>
          <p:cNvSpPr>
            <a:spLocks noGrp="1"/>
          </p:cNvSpPr>
          <p:nvPr>
            <p:ph type="title"/>
          </p:nvPr>
        </p:nvSpPr>
        <p:spPr/>
        <p:txBody>
          <a:bodyPr/>
          <a:lstStyle/>
          <a:p>
            <a:r>
              <a:rPr lang="en-US" dirty="0"/>
              <a:t>Code Smell</a:t>
            </a:r>
          </a:p>
        </p:txBody>
      </p:sp>
      <p:sp>
        <p:nvSpPr>
          <p:cNvPr id="5" name="Slide Number Placeholder 4">
            <a:extLst>
              <a:ext uri="{FF2B5EF4-FFF2-40B4-BE49-F238E27FC236}">
                <a16:creationId xmlns:a16="http://schemas.microsoft.com/office/drawing/2014/main" id="{8A7BB53E-248F-3464-2103-71DF14C4A048}"/>
              </a:ext>
            </a:extLst>
          </p:cNvPr>
          <p:cNvSpPr>
            <a:spLocks noGrp="1"/>
          </p:cNvSpPr>
          <p:nvPr>
            <p:ph type="sldNum" sz="quarter" idx="12"/>
          </p:nvPr>
        </p:nvSpPr>
        <p:spPr/>
        <p:txBody>
          <a:bodyPr/>
          <a:lstStyle/>
          <a:p>
            <a:fld id="{9EA0BE3B-158A-4EDF-80DC-E394A0D1600F}" type="slidenum">
              <a:rPr lang="en-US" smtClean="0"/>
              <a:pPr/>
              <a:t>22</a:t>
            </a:fld>
            <a:endParaRPr lang="en-US" dirty="0"/>
          </a:p>
        </p:txBody>
      </p:sp>
      <p:pic>
        <p:nvPicPr>
          <p:cNvPr id="3" name="Picture 2">
            <a:extLst>
              <a:ext uri="{FF2B5EF4-FFF2-40B4-BE49-F238E27FC236}">
                <a16:creationId xmlns:a16="http://schemas.microsoft.com/office/drawing/2014/main" id="{1421CD82-AC8B-B25E-7FB2-66A697AC921A}"/>
              </a:ext>
            </a:extLst>
          </p:cNvPr>
          <p:cNvPicPr>
            <a:picLocks noChangeAspect="1"/>
          </p:cNvPicPr>
          <p:nvPr/>
        </p:nvPicPr>
        <p:blipFill>
          <a:blip r:embed="rId2"/>
          <a:stretch>
            <a:fillRect/>
          </a:stretch>
        </p:blipFill>
        <p:spPr>
          <a:xfrm>
            <a:off x="1599942" y="4075102"/>
            <a:ext cx="5944115" cy="1707028"/>
          </a:xfrm>
          <a:prstGeom prst="rect">
            <a:avLst/>
          </a:prstGeom>
        </p:spPr>
      </p:pic>
      <p:sp>
        <p:nvSpPr>
          <p:cNvPr id="6" name="TextBox 5">
            <a:extLst>
              <a:ext uri="{FF2B5EF4-FFF2-40B4-BE49-F238E27FC236}">
                <a16:creationId xmlns:a16="http://schemas.microsoft.com/office/drawing/2014/main" id="{C0CDEBBC-A436-569D-FBB8-22A3639D4581}"/>
              </a:ext>
            </a:extLst>
          </p:cNvPr>
          <p:cNvSpPr txBox="1"/>
          <p:nvPr/>
        </p:nvSpPr>
        <p:spPr>
          <a:xfrm>
            <a:off x="1599942" y="1075870"/>
            <a:ext cx="5541264" cy="2554545"/>
          </a:xfrm>
          <a:prstGeom prst="rect">
            <a:avLst/>
          </a:prstGeom>
          <a:noFill/>
        </p:spPr>
        <p:txBody>
          <a:bodyPr wrap="square">
            <a:spAutoFit/>
          </a:bodyPr>
          <a:lstStyle/>
          <a:p>
            <a:pPr marL="342900" indent="-342900">
              <a:buFont typeface="Arial" panose="020B0604020202020204" pitchFamily="34" charset="0"/>
              <a:buChar char="•"/>
            </a:pPr>
            <a:r>
              <a:rPr lang="en-US" sz="2000" dirty="0"/>
              <a:t>Issue: Use of generic exception (java:S112)</a:t>
            </a:r>
            <a:endParaRPr lang="vi-VN" sz="2000" dirty="0"/>
          </a:p>
          <a:p>
            <a:pPr marL="342900" indent="-342900">
              <a:buFont typeface="Arial" panose="020B0604020202020204" pitchFamily="34" charset="0"/>
              <a:buChar char="•"/>
            </a:pPr>
            <a:endParaRPr lang="vi-VN" sz="2000" dirty="0"/>
          </a:p>
          <a:p>
            <a:pPr marL="342900" indent="-342900">
              <a:buFont typeface="Arial" panose="020B0604020202020204" pitchFamily="34" charset="0"/>
              <a:buChar char="•"/>
            </a:pPr>
            <a:r>
              <a:rPr lang="en-US" sz="2000" dirty="0"/>
              <a:t>Type: Major Code Smell</a:t>
            </a:r>
            <a:endParaRPr lang="vi-VN" sz="2000" dirty="0"/>
          </a:p>
          <a:p>
            <a:pPr marL="342900" indent="-342900">
              <a:buFont typeface="Arial" panose="020B0604020202020204" pitchFamily="34" charset="0"/>
              <a:buChar char="•"/>
            </a:pPr>
            <a:endParaRPr lang="vi-VN" sz="2000" dirty="0"/>
          </a:p>
          <a:p>
            <a:pPr marL="342900" indent="-342900">
              <a:buFont typeface="Arial" panose="020B0604020202020204" pitchFamily="34" charset="0"/>
              <a:buChar char="•"/>
            </a:pPr>
            <a:r>
              <a:rPr lang="en-US" sz="2000" dirty="0"/>
              <a:t>Status: Resolved </a:t>
            </a:r>
            <a:endParaRPr lang="vi-VN" sz="2000" dirty="0"/>
          </a:p>
          <a:p>
            <a:pPr marL="342900" indent="-342900">
              <a:buFont typeface="Arial" panose="020B0604020202020204" pitchFamily="34" charset="0"/>
              <a:buChar char="•"/>
            </a:pPr>
            <a:endParaRPr lang="vi-VN" sz="2000" dirty="0"/>
          </a:p>
          <a:p>
            <a:pPr marL="342900" indent="-342900">
              <a:buFont typeface="Arial" panose="020B0604020202020204" pitchFamily="34" charset="0"/>
              <a:buChar char="•"/>
            </a:pPr>
            <a:r>
              <a:rPr lang="en-US" sz="2000" dirty="0"/>
              <a:t>Impact: Improved code clarity and maintainability</a:t>
            </a:r>
          </a:p>
        </p:txBody>
      </p:sp>
    </p:spTree>
    <p:extLst>
      <p:ext uri="{BB962C8B-B14F-4D97-AF65-F5344CB8AC3E}">
        <p14:creationId xmlns:p14="http://schemas.microsoft.com/office/powerpoint/2010/main" val="3418052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D678-0852-07B6-7BD8-5163C41CB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006FC-1365-B8D2-5335-62B7B6C53199}"/>
              </a:ext>
            </a:extLst>
          </p:cNvPr>
          <p:cNvSpPr>
            <a:spLocks noGrp="1"/>
          </p:cNvSpPr>
          <p:nvPr>
            <p:ph type="title"/>
          </p:nvPr>
        </p:nvSpPr>
        <p:spPr/>
        <p:txBody>
          <a:bodyPr/>
          <a:lstStyle/>
          <a:p>
            <a:r>
              <a:rPr lang="vi-VN" dirty="0"/>
              <a:t>Conclusion</a:t>
            </a:r>
            <a:endParaRPr lang="en-US" dirty="0"/>
          </a:p>
        </p:txBody>
      </p:sp>
      <p:sp>
        <p:nvSpPr>
          <p:cNvPr id="5" name="Slide Number Placeholder 4">
            <a:extLst>
              <a:ext uri="{FF2B5EF4-FFF2-40B4-BE49-F238E27FC236}">
                <a16:creationId xmlns:a16="http://schemas.microsoft.com/office/drawing/2014/main" id="{7531B37D-14B8-8A17-C8CB-1023694C5AC3}"/>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4" name="TextBox 3">
            <a:extLst>
              <a:ext uri="{FF2B5EF4-FFF2-40B4-BE49-F238E27FC236}">
                <a16:creationId xmlns:a16="http://schemas.microsoft.com/office/drawing/2014/main" id="{F53C87A2-0415-B70B-C266-114B7720D58F}"/>
              </a:ext>
            </a:extLst>
          </p:cNvPr>
          <p:cNvSpPr txBox="1"/>
          <p:nvPr/>
        </p:nvSpPr>
        <p:spPr>
          <a:xfrm>
            <a:off x="569976" y="1150581"/>
            <a:ext cx="8004048" cy="2400657"/>
          </a:xfrm>
          <a:prstGeom prst="rect">
            <a:avLst/>
          </a:prstGeom>
          <a:noFill/>
        </p:spPr>
        <p:txBody>
          <a:bodyPr wrap="square">
            <a:spAutoFit/>
          </a:bodyPr>
          <a:lstStyle/>
          <a:p>
            <a:r>
              <a:rPr lang="vi-VN" sz="3000" dirty="0"/>
              <a:t>    </a:t>
            </a:r>
            <a:r>
              <a:rPr lang="en-US" sz="3000" dirty="0"/>
              <a:t>The TCP File </a:t>
            </a:r>
            <a:r>
              <a:rPr lang="vi-VN" sz="3000" dirty="0"/>
              <a:t>Transferring System</a:t>
            </a:r>
            <a:r>
              <a:rPr lang="en-US" sz="3000" dirty="0"/>
              <a:t> fully meets the requirements for secure file transmission and management between the client and server over TCP. It ensures security, ease of use, and scalability for practical applications.</a:t>
            </a:r>
          </a:p>
        </p:txBody>
      </p:sp>
    </p:spTree>
    <p:extLst>
      <p:ext uri="{BB962C8B-B14F-4D97-AF65-F5344CB8AC3E}">
        <p14:creationId xmlns:p14="http://schemas.microsoft.com/office/powerpoint/2010/main" val="239577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FD9D-2A4C-3FAE-AA96-A4CEC2A7C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CB770-39B1-D075-58CE-B20418889531}"/>
              </a:ext>
            </a:extLst>
          </p:cNvPr>
          <p:cNvSpPr>
            <a:spLocks noGrp="1"/>
          </p:cNvSpPr>
          <p:nvPr>
            <p:ph type="title"/>
          </p:nvPr>
        </p:nvSpPr>
        <p:spPr/>
        <p:txBody>
          <a:bodyPr/>
          <a:lstStyle/>
          <a:p>
            <a:r>
              <a:rPr lang="en-US" dirty="0"/>
              <a:t>References</a:t>
            </a:r>
            <a:br>
              <a:rPr lang="en-US" dirty="0"/>
            </a:br>
            <a:endParaRPr lang="en-US" dirty="0"/>
          </a:p>
        </p:txBody>
      </p:sp>
      <p:sp>
        <p:nvSpPr>
          <p:cNvPr id="5" name="Slide Number Placeholder 4">
            <a:extLst>
              <a:ext uri="{FF2B5EF4-FFF2-40B4-BE49-F238E27FC236}">
                <a16:creationId xmlns:a16="http://schemas.microsoft.com/office/drawing/2014/main" id="{0BE0D05F-CD0B-9156-A93D-44C92255F543}"/>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4" name="TextBox 3">
            <a:extLst>
              <a:ext uri="{FF2B5EF4-FFF2-40B4-BE49-F238E27FC236}">
                <a16:creationId xmlns:a16="http://schemas.microsoft.com/office/drawing/2014/main" id="{8809C624-6DD5-27F6-ECAF-6DA8EB113FD9}"/>
              </a:ext>
            </a:extLst>
          </p:cNvPr>
          <p:cNvSpPr txBox="1"/>
          <p:nvPr/>
        </p:nvSpPr>
        <p:spPr>
          <a:xfrm>
            <a:off x="235077" y="1049679"/>
            <a:ext cx="8689706" cy="2246769"/>
          </a:xfrm>
          <a:prstGeom prst="rect">
            <a:avLst/>
          </a:prstGeom>
          <a:noFill/>
        </p:spPr>
        <p:txBody>
          <a:bodyPr wrap="square">
            <a:spAutoFit/>
          </a:bodyPr>
          <a:lstStyle/>
          <a:p>
            <a:r>
              <a:rPr lang="en-US" sz="2000" dirty="0"/>
              <a:t>1.	CD Foundation. Jenkins. </a:t>
            </a:r>
            <a:r>
              <a:rPr lang="vi-VN" sz="2000" dirty="0"/>
              <a:t>     </a:t>
            </a:r>
            <a:r>
              <a:rPr lang="en-US" sz="2000" dirty="0"/>
              <a:t>https://www.jenkins.io/.</a:t>
            </a:r>
          </a:p>
          <a:p>
            <a:r>
              <a:rPr lang="en-US" sz="2000" dirty="0"/>
              <a:t>2.	</a:t>
            </a:r>
            <a:r>
              <a:rPr lang="en-US" sz="2000" dirty="0" err="1"/>
              <a:t>Openjfx</a:t>
            </a:r>
            <a:r>
              <a:rPr lang="en-US" sz="2000" dirty="0"/>
              <a:t>.  JavaFX. https://openjfx.io/.</a:t>
            </a:r>
          </a:p>
          <a:p>
            <a:r>
              <a:rPr lang="vi-VN" sz="2000" dirty="0"/>
              <a:t>3</a:t>
            </a:r>
            <a:r>
              <a:rPr lang="en-US" sz="2000" dirty="0"/>
              <a:t>.	</a:t>
            </a:r>
            <a:r>
              <a:rPr lang="en-US" sz="2000" dirty="0" err="1"/>
              <a:t>GluonHQ</a:t>
            </a:r>
            <a:r>
              <a:rPr lang="en-US" sz="2000" dirty="0"/>
              <a:t>. Scene Builder.</a:t>
            </a:r>
            <a:r>
              <a:rPr lang="vi-VN" sz="2000" dirty="0"/>
              <a:t> </a:t>
            </a:r>
            <a:r>
              <a:rPr lang="en-US" sz="2000" dirty="0"/>
              <a:t>https://gluonhq.com/products/scene-builder/.</a:t>
            </a:r>
          </a:p>
          <a:p>
            <a:r>
              <a:rPr lang="vi-VN" sz="2000" dirty="0"/>
              <a:t>4</a:t>
            </a:r>
            <a:r>
              <a:rPr lang="en-US" sz="2000" dirty="0"/>
              <a:t>.	</a:t>
            </a:r>
            <a:r>
              <a:rPr lang="en-US" sz="2000" dirty="0" err="1"/>
              <a:t>SonarSource</a:t>
            </a:r>
            <a:r>
              <a:rPr lang="en-US" sz="2000" dirty="0"/>
              <a:t>. </a:t>
            </a:r>
            <a:r>
              <a:rPr lang="en-US" sz="2000" dirty="0" err="1"/>
              <a:t>Sonarqube</a:t>
            </a:r>
            <a:r>
              <a:rPr lang="en-US" sz="2000" dirty="0"/>
              <a:t>. https://www.sonarsource.com/products/sonarqube/.</a:t>
            </a:r>
          </a:p>
          <a:p>
            <a:r>
              <a:rPr lang="vi-VN" sz="2000" dirty="0"/>
              <a:t>5</a:t>
            </a:r>
            <a:r>
              <a:rPr lang="en-US" sz="2000" dirty="0"/>
              <a:t>.</a:t>
            </a:r>
            <a:r>
              <a:rPr lang="vi-VN" sz="2000" dirty="0"/>
              <a:t>    </a:t>
            </a:r>
            <a:r>
              <a:rPr lang="en-US" sz="2000" dirty="0"/>
              <a:t>The Apache Software Foundation. Maven. https://maven.apache.org/.</a:t>
            </a:r>
          </a:p>
          <a:p>
            <a:r>
              <a:rPr lang="vi-VN" sz="2000" dirty="0"/>
              <a:t>6</a:t>
            </a:r>
            <a:r>
              <a:rPr lang="en-US" sz="2000" dirty="0"/>
              <a:t>.</a:t>
            </a:r>
            <a:r>
              <a:rPr lang="vi-VN" sz="2000" dirty="0"/>
              <a:t>    </a:t>
            </a:r>
            <a:r>
              <a:rPr lang="en-US" sz="2000" dirty="0"/>
              <a:t>Astah.  https://astah.net/products/astah-community/.</a:t>
            </a:r>
          </a:p>
        </p:txBody>
      </p:sp>
    </p:spTree>
    <p:extLst>
      <p:ext uri="{BB962C8B-B14F-4D97-AF65-F5344CB8AC3E}">
        <p14:creationId xmlns:p14="http://schemas.microsoft.com/office/powerpoint/2010/main" val="338030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Tree>
    <p:extLst>
      <p:ext uri="{BB962C8B-B14F-4D97-AF65-F5344CB8AC3E}">
        <p14:creationId xmlns:p14="http://schemas.microsoft.com/office/powerpoint/2010/main" val="31940127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511</TotalTime>
  <Words>973</Words>
  <Application>Microsoft Office PowerPoint</Application>
  <PresentationFormat>On-screen Show (4:3)</PresentationFormat>
  <Paragraphs>111</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Lato</vt:lpstr>
      <vt:lpstr>Office Theme</vt:lpstr>
      <vt:lpstr>PowerPoint Presentation</vt:lpstr>
      <vt:lpstr>Introduction</vt:lpstr>
      <vt:lpstr>Use case Diagram</vt:lpstr>
      <vt:lpstr>Class Diagram</vt:lpstr>
      <vt:lpstr>Server (The Backend)</vt:lpstr>
      <vt:lpstr>Client (The Frontend)</vt:lpstr>
      <vt:lpstr>shared (The Common Language)</vt:lpstr>
      <vt:lpstr>Explanation of the Demo</vt:lpstr>
      <vt:lpstr>Login</vt:lpstr>
      <vt:lpstr>Register</vt:lpstr>
      <vt:lpstr>Register</vt:lpstr>
      <vt:lpstr>Explanation of the Demo</vt:lpstr>
      <vt:lpstr>Explanation of the Demo</vt:lpstr>
      <vt:lpstr>Explanation of the Demo</vt:lpstr>
      <vt:lpstr>Explanation of the Demo</vt:lpstr>
      <vt:lpstr>Explanation of the Demo</vt:lpstr>
      <vt:lpstr>Explanation of the Demo</vt:lpstr>
      <vt:lpstr>Explanation of the Demo</vt:lpstr>
      <vt:lpstr>Explanation of the Demo</vt:lpstr>
      <vt:lpstr>SonarQube in Pipeline CI/CD</vt:lpstr>
      <vt:lpstr>Source Code Quality Overview</vt:lpstr>
      <vt:lpstr>Code Smell</vt:lpstr>
      <vt:lpstr>Conclusion</vt:lpstr>
      <vt:lpstr>References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ha nguyen</cp:lastModifiedBy>
  <cp:revision>16</cp:revision>
  <dcterms:created xsi:type="dcterms:W3CDTF">2021-05-28T04:32:29Z</dcterms:created>
  <dcterms:modified xsi:type="dcterms:W3CDTF">2025-06-24T07:56:51Z</dcterms:modified>
</cp:coreProperties>
</file>